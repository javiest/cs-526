
<file path=[Content_Types].xml><?xml version="1.0" encoding="utf-8"?>
<Types xmlns="http://schemas.openxmlformats.org/package/2006/content-types">
  <Default ContentType="application/xml" Extension="xml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5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</p:sldIdLst>
  <p:sldSz cy="6858000" cx="12192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10" roundtripDataSignature="AMtx7mh2N4aBM99jbqP1pR7d2DUuHBFTQ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10" Type="http://customschemas.google.com/relationships/presentationmetadata" Target="metadata"/><Relationship Id="rId9" Type="http://schemas.openxmlformats.org/officeDocument/2006/relationships/slide" Target="slides/slide5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6" name="Google Shape;86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" name="Google Shape;87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6" name="Google Shape;96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" name="Google Shape;97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7" name="Google Shape;107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8" name="Google Shape;108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8" name="Google Shape;118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9" name="Google Shape;119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8" name="Google Shape;128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7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7"/>
          <p:cNvSpPr txBox="1"/>
          <p:nvPr>
            <p:ph idx="1" type="body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8" name="Google Shape;18;p7"/>
          <p:cNvSpPr txBox="1"/>
          <p:nvPr>
            <p:ph idx="2" type="body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9" name="Google Shape;19;p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8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8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25" name="Google Shape;25;p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9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" name="Google Shape;30;p9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1" name="Google Shape;31;p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" name="Google Shape;33;p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10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10"/>
          <p:cNvSpPr txBox="1"/>
          <p:nvPr>
            <p:ph idx="1" type="body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7" name="Google Shape;37;p1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1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1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11"/>
          <p:cNvSpPr txBox="1"/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11"/>
          <p:cNvSpPr txBox="1"/>
          <p:nvPr>
            <p:ph idx="1" type="body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11"/>
          <p:cNvSpPr txBox="1"/>
          <p:nvPr>
            <p:ph idx="2" type="body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4" name="Google Shape;44;p11"/>
          <p:cNvSpPr txBox="1"/>
          <p:nvPr>
            <p:ph idx="3" type="body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11"/>
          <p:cNvSpPr txBox="1"/>
          <p:nvPr>
            <p:ph idx="4" type="body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6" name="Google Shape;46;p1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1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2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1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1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1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1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1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4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14"/>
          <p:cNvSpPr txBox="1"/>
          <p:nvPr>
            <p:ph idx="1" type="body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indent="-3810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61" name="Google Shape;61;p14"/>
          <p:cNvSpPr txBox="1"/>
          <p:nvPr>
            <p:ph idx="2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2" name="Google Shape;62;p1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1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5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5"/>
          <p:cNvSpPr/>
          <p:nvPr>
            <p:ph idx="2" type="pic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8" name="Google Shape;68;p15"/>
          <p:cNvSpPr txBox="1"/>
          <p:nvPr>
            <p:ph idx="1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9" name="Google Shape;69;p1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" name="Google Shape;71;p1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6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4" name="Google Shape;74;p16"/>
          <p:cNvSpPr txBox="1"/>
          <p:nvPr>
            <p:ph idx="1" type="body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5" name="Google Shape;75;p1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p1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7"/>
          <p:cNvSpPr txBox="1"/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0" name="Google Shape;80;p17"/>
          <p:cNvSpPr txBox="1"/>
          <p:nvPr>
            <p:ph idx="1" type="body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1" name="Google Shape;81;p1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2" name="Google Shape;82;p1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3" name="Google Shape;83;p1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6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1" name="Google Shape;11;p6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" name="Google Shape;12;p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3" name="Google Shape;13;p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4" name="Google Shape;14;p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"/>
          <p:cNvSpPr txBox="1"/>
          <p:nvPr>
            <p:ph type="title"/>
          </p:nvPr>
        </p:nvSpPr>
        <p:spPr>
          <a:xfrm>
            <a:off x="0" y="678094"/>
            <a:ext cx="12192000" cy="934949"/>
          </a:xfrm>
          <a:prstGeom prst="rect">
            <a:avLst/>
          </a:prstGeom>
          <a:solidFill>
            <a:srgbClr val="FBE4D4"/>
          </a:solidFill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b="1" lang="en-US"/>
              <a:t>Problem 1 (15 pts)</a:t>
            </a:r>
            <a:endParaRPr/>
          </a:p>
        </p:txBody>
      </p:sp>
      <p:sp>
        <p:nvSpPr>
          <p:cNvPr id="90" name="Google Shape;90;p1"/>
          <p:cNvSpPr/>
          <p:nvPr/>
        </p:nvSpPr>
        <p:spPr>
          <a:xfrm>
            <a:off x="0" y="0"/>
            <a:ext cx="12192000" cy="678094"/>
          </a:xfrm>
          <a:prstGeom prst="rect">
            <a:avLst/>
          </a:prstGeom>
          <a:solidFill>
            <a:srgbClr val="B3C6E7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CS526  Homework Assignment 2</a:t>
            </a:r>
            <a:endParaRPr/>
          </a:p>
        </p:txBody>
      </p:sp>
      <p:sp>
        <p:nvSpPr>
          <p:cNvPr id="91" name="Google Shape;91;p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Boston University Metropolitan College</a:t>
            </a:r>
            <a:endParaRPr/>
          </a:p>
        </p:txBody>
      </p:sp>
      <p:sp>
        <p:nvSpPr>
          <p:cNvPr id="92" name="Google Shape;92;p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93" name="Google Shape;93;p1"/>
          <p:cNvSpPr txBox="1"/>
          <p:nvPr>
            <p:ph idx="1" type="body"/>
          </p:nvPr>
        </p:nvSpPr>
        <p:spPr>
          <a:xfrm>
            <a:off x="0" y="1613043"/>
            <a:ext cx="12192000" cy="4743308"/>
          </a:xfrm>
          <a:prstGeom prst="rect">
            <a:avLst/>
          </a:prstGeom>
          <a:solidFill>
            <a:srgbClr val="FBE4D4"/>
          </a:solidFill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What is the advantage of using a tail pointer in a linked list?</a:t>
            </a:r>
            <a:endParaRPr/>
          </a:p>
          <a:p>
            <a:pPr indent="-508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  <a:p>
            <a:pPr indent="-508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  <a:p>
            <a:pPr indent="-18415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</a:pPr>
            <a:r>
              <a:t/>
            </a:r>
            <a:endParaRPr sz="700"/>
          </a:p>
          <a:p>
            <a:pPr indent="-508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2"/>
          <p:cNvSpPr txBox="1"/>
          <p:nvPr>
            <p:ph type="title"/>
          </p:nvPr>
        </p:nvSpPr>
        <p:spPr>
          <a:xfrm>
            <a:off x="0" y="678094"/>
            <a:ext cx="12192000" cy="934949"/>
          </a:xfrm>
          <a:prstGeom prst="rect">
            <a:avLst/>
          </a:prstGeom>
          <a:solidFill>
            <a:srgbClr val="FBE4D4"/>
          </a:solidFill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b="1" lang="en-US"/>
              <a:t>Problem 2 (20 pts)</a:t>
            </a:r>
            <a:endParaRPr/>
          </a:p>
        </p:txBody>
      </p:sp>
      <p:sp>
        <p:nvSpPr>
          <p:cNvPr id="100" name="Google Shape;100;p2"/>
          <p:cNvSpPr/>
          <p:nvPr/>
        </p:nvSpPr>
        <p:spPr>
          <a:xfrm>
            <a:off x="0" y="0"/>
            <a:ext cx="12192000" cy="678094"/>
          </a:xfrm>
          <a:prstGeom prst="rect">
            <a:avLst/>
          </a:prstGeom>
          <a:solidFill>
            <a:srgbClr val="B3C6E7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CS526  Homework Assignment 2</a:t>
            </a:r>
            <a:endParaRPr/>
          </a:p>
        </p:txBody>
      </p:sp>
      <p:sp>
        <p:nvSpPr>
          <p:cNvPr id="101" name="Google Shape;101;p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Boston University Metropolitan College</a:t>
            </a:r>
            <a:endParaRPr/>
          </a:p>
        </p:txBody>
      </p:sp>
      <p:sp>
        <p:nvSpPr>
          <p:cNvPr id="102" name="Google Shape;102;p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03" name="Google Shape;103;p2"/>
          <p:cNvSpPr txBox="1"/>
          <p:nvPr>
            <p:ph idx="1" type="body"/>
          </p:nvPr>
        </p:nvSpPr>
        <p:spPr>
          <a:xfrm>
            <a:off x="0" y="1613043"/>
            <a:ext cx="12192000" cy="4743308"/>
          </a:xfrm>
          <a:prstGeom prst="rect">
            <a:avLst/>
          </a:prstGeom>
          <a:solidFill>
            <a:srgbClr val="FBE4D4"/>
          </a:solidFill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Consider the following function:</a:t>
            </a:r>
            <a:endParaRPr/>
          </a:p>
          <a:p>
            <a:pPr indent="-508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  <a:p>
            <a:pPr indent="-508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  <a:p>
            <a:pPr indent="-18415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</a:pPr>
            <a:r>
              <a:t/>
            </a:r>
            <a:endParaRPr sz="700"/>
          </a:p>
          <a:p>
            <a:pPr indent="-508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  <a:p>
            <a:pPr indent="-508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  <a:p>
            <a:pPr indent="-508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Implement node and this function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Create a linked list with 12,3,5,2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What would the doIt function produce with your list?</a:t>
            </a:r>
            <a:endParaRPr/>
          </a:p>
        </p:txBody>
      </p:sp>
      <p:sp>
        <p:nvSpPr>
          <p:cNvPr id="104" name="Google Shape;104;p2"/>
          <p:cNvSpPr/>
          <p:nvPr/>
        </p:nvSpPr>
        <p:spPr>
          <a:xfrm>
            <a:off x="1536969" y="2178995"/>
            <a:ext cx="8677073" cy="2120631"/>
          </a:xfrm>
          <a:prstGeom prst="rect">
            <a:avLst/>
          </a:prstGeom>
          <a:solidFill>
            <a:srgbClr val="D5DBE5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1" marL="45720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function doIt(node)</a:t>
            </a:r>
            <a:endParaRPr/>
          </a:p>
          <a:p>
            <a:pPr indent="0" lvl="2" marL="91440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if node is null :</a:t>
            </a:r>
            <a:endParaRPr/>
          </a:p>
          <a:p>
            <a:pPr indent="0" lvl="3" marL="137160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return </a:t>
            </a:r>
            <a:endParaRPr/>
          </a:p>
          <a:p>
            <a:pPr indent="0" lvl="2" marL="91440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doIt(node.next)</a:t>
            </a:r>
            <a:endParaRPr/>
          </a:p>
          <a:p>
            <a:pPr indent="0" lvl="2" marL="91440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print node.value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3"/>
          <p:cNvSpPr txBox="1"/>
          <p:nvPr>
            <p:ph type="title"/>
          </p:nvPr>
        </p:nvSpPr>
        <p:spPr>
          <a:xfrm>
            <a:off x="0" y="678094"/>
            <a:ext cx="12192000" cy="934949"/>
          </a:xfrm>
          <a:prstGeom prst="rect">
            <a:avLst/>
          </a:prstGeom>
          <a:solidFill>
            <a:srgbClr val="FBE4D4"/>
          </a:solidFill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b="1" lang="en-US"/>
              <a:t>Problem 3 (20 pts)</a:t>
            </a:r>
            <a:endParaRPr/>
          </a:p>
        </p:txBody>
      </p:sp>
      <p:sp>
        <p:nvSpPr>
          <p:cNvPr id="111" name="Google Shape;111;p3"/>
          <p:cNvSpPr/>
          <p:nvPr/>
        </p:nvSpPr>
        <p:spPr>
          <a:xfrm>
            <a:off x="0" y="0"/>
            <a:ext cx="12192000" cy="678094"/>
          </a:xfrm>
          <a:prstGeom prst="rect">
            <a:avLst/>
          </a:prstGeom>
          <a:solidFill>
            <a:srgbClr val="B3C6E7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CS526  Homework Assignment 2</a:t>
            </a:r>
            <a:endParaRPr/>
          </a:p>
        </p:txBody>
      </p:sp>
      <p:sp>
        <p:nvSpPr>
          <p:cNvPr id="112" name="Google Shape;112;p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Boston University Metropolitan College</a:t>
            </a:r>
            <a:endParaRPr/>
          </a:p>
        </p:txBody>
      </p:sp>
      <p:sp>
        <p:nvSpPr>
          <p:cNvPr id="113" name="Google Shape;113;p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14" name="Google Shape;114;p3"/>
          <p:cNvSpPr txBox="1"/>
          <p:nvPr>
            <p:ph idx="1" type="body"/>
          </p:nvPr>
        </p:nvSpPr>
        <p:spPr>
          <a:xfrm>
            <a:off x="0" y="1613043"/>
            <a:ext cx="12192000" cy="4743308"/>
          </a:xfrm>
          <a:prstGeom prst="rect">
            <a:avLst/>
          </a:prstGeom>
          <a:solidFill>
            <a:srgbClr val="FBE4D4"/>
          </a:solidFill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Consider the following function:</a:t>
            </a:r>
            <a:endParaRPr/>
          </a:p>
          <a:p>
            <a:pPr indent="-508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  <a:p>
            <a:pPr indent="-508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  <a:p>
            <a:pPr indent="-18415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</a:pPr>
            <a:r>
              <a:t/>
            </a:r>
            <a:endParaRPr sz="700"/>
          </a:p>
          <a:p>
            <a:pPr indent="-508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  <a:p>
            <a:pPr indent="-508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  <a:p>
            <a:pPr indent="-508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  <a:p>
            <a:pPr indent="-508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  <a:p>
            <a:pPr indent="-508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Implement this function and output doIt(1), doIt(3), doIt(6)</a:t>
            </a:r>
            <a:endParaRPr/>
          </a:p>
        </p:txBody>
      </p:sp>
      <p:sp>
        <p:nvSpPr>
          <p:cNvPr id="115" name="Google Shape;115;p3"/>
          <p:cNvSpPr/>
          <p:nvPr/>
        </p:nvSpPr>
        <p:spPr>
          <a:xfrm>
            <a:off x="1536969" y="2178995"/>
            <a:ext cx="8677200" cy="3336600"/>
          </a:xfrm>
          <a:prstGeom prst="rect">
            <a:avLst/>
          </a:prstGeom>
          <a:solidFill>
            <a:srgbClr val="D5DBE5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1" marL="45720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function doIt(n)</a:t>
            </a:r>
            <a:endParaRPr/>
          </a:p>
          <a:p>
            <a:pPr indent="0" lvl="2" marL="91440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if n == 0:</a:t>
            </a:r>
            <a:endParaRPr/>
          </a:p>
          <a:p>
            <a:pPr indent="0" lvl="3" marL="137160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return 1</a:t>
            </a:r>
            <a:endParaRPr/>
          </a:p>
          <a:p>
            <a:pPr indent="0" lvl="2" marL="91440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else if n == 1:</a:t>
            </a:r>
            <a:endParaRPr/>
          </a:p>
          <a:p>
            <a:pPr indent="0" lvl="3" marL="137160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return 1</a:t>
            </a:r>
            <a:endParaRPr/>
          </a:p>
          <a:p>
            <a:pPr indent="0" lvl="2" marL="91440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else if n == 2:</a:t>
            </a:r>
            <a:endParaRPr/>
          </a:p>
          <a:p>
            <a:pPr indent="0" lvl="3" marL="137160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return 2</a:t>
            </a:r>
            <a:endParaRPr/>
          </a:p>
          <a:p>
            <a:pPr indent="0" lvl="2" marL="91440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else</a:t>
            </a:r>
            <a:endParaRPr/>
          </a:p>
          <a:p>
            <a:pPr indent="0" lvl="3" marL="137160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return doIt(n-1) + doIt(n-2) – doIt(n-3) 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4"/>
          <p:cNvSpPr txBox="1"/>
          <p:nvPr>
            <p:ph type="title"/>
          </p:nvPr>
        </p:nvSpPr>
        <p:spPr>
          <a:xfrm>
            <a:off x="0" y="678094"/>
            <a:ext cx="12192000" cy="934949"/>
          </a:xfrm>
          <a:prstGeom prst="rect">
            <a:avLst/>
          </a:prstGeom>
          <a:solidFill>
            <a:srgbClr val="FBE4D4"/>
          </a:solidFill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b="1" lang="en-US"/>
              <a:t>Problem 4 (45 pts)</a:t>
            </a:r>
            <a:endParaRPr/>
          </a:p>
        </p:txBody>
      </p:sp>
      <p:sp>
        <p:nvSpPr>
          <p:cNvPr id="122" name="Google Shape;122;p4"/>
          <p:cNvSpPr/>
          <p:nvPr/>
        </p:nvSpPr>
        <p:spPr>
          <a:xfrm>
            <a:off x="0" y="0"/>
            <a:ext cx="12192000" cy="678094"/>
          </a:xfrm>
          <a:prstGeom prst="rect">
            <a:avLst/>
          </a:prstGeom>
          <a:solidFill>
            <a:srgbClr val="B3C6E7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CS526  Homework Assignment 2</a:t>
            </a:r>
            <a:endParaRPr/>
          </a:p>
        </p:txBody>
      </p:sp>
      <p:sp>
        <p:nvSpPr>
          <p:cNvPr id="123" name="Google Shape;123;p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Boston University Metropolitan College</a:t>
            </a:r>
            <a:endParaRPr/>
          </a:p>
        </p:txBody>
      </p:sp>
      <p:sp>
        <p:nvSpPr>
          <p:cNvPr id="124" name="Google Shape;124;p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25" name="Google Shape;125;p4"/>
          <p:cNvSpPr txBox="1"/>
          <p:nvPr>
            <p:ph idx="1" type="body"/>
          </p:nvPr>
        </p:nvSpPr>
        <p:spPr>
          <a:xfrm>
            <a:off x="0" y="1613043"/>
            <a:ext cx="12192000" cy="4743308"/>
          </a:xfrm>
          <a:prstGeom prst="rect">
            <a:avLst/>
          </a:prstGeom>
          <a:solidFill>
            <a:srgbClr val="FBE4D4"/>
          </a:solidFill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Write a function to find the sum of the three middle nodes in a doubly linked list of sorted integers. You may assume the the list has an odd length.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Ex.</a:t>
            </a:r>
            <a:endParaRPr/>
          </a:p>
          <a:p>
            <a:pPr indent="0" lvl="1" marL="4572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/>
              <a:t>2,4,8,10,15,29,41 🡪 33</a:t>
            </a:r>
            <a:endParaRPr/>
          </a:p>
          <a:p>
            <a:pPr indent="-508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  <a:p>
            <a:pPr indent="-508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  <a:p>
            <a:pPr indent="-18415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</a:pPr>
            <a:r>
              <a:t/>
            </a:r>
            <a:endParaRPr sz="700"/>
          </a:p>
          <a:p>
            <a:pPr indent="-508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5"/>
          <p:cNvSpPr txBox="1"/>
          <p:nvPr/>
        </p:nvSpPr>
        <p:spPr>
          <a:xfrm>
            <a:off x="379378" y="350195"/>
            <a:ext cx="8900809" cy="147732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Q1 15/15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Q2 20/20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Q3 20/20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Q4 45/45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2024-08-26T20:23:57Z</dcterms:created>
  <dc:creator>David Mellor</dc:creator>
</cp:coreProperties>
</file>