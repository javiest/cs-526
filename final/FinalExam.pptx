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93" r:id="rId2"/>
    <p:sldId id="291" r:id="rId3"/>
    <p:sldId id="298" r:id="rId4"/>
    <p:sldId id="301" r:id="rId5"/>
    <p:sldId id="299" r:id="rId6"/>
    <p:sldId id="300" r:id="rId7"/>
    <p:sldId id="295" r:id="rId8"/>
    <p:sldId id="297"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276"/>
    <p:restoredTop sz="96405"/>
  </p:normalViewPr>
  <p:slideViewPr>
    <p:cSldViewPr snapToGrid="0" snapToObjects="1">
      <p:cViewPr varScale="1">
        <p:scale>
          <a:sx n="131" d="100"/>
          <a:sy n="131" d="100"/>
        </p:scale>
        <p:origin x="84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A5ECBB-B71C-BC43-8271-C53449D8EA9F}" type="datetimeFigureOut">
              <a:rPr lang="en-US" smtClean="0"/>
              <a:t>11/30/25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EF012D-48B4-A145-B00F-C255DB6D6A38}" type="slidenum">
              <a:rPr lang="en-US" smtClean="0"/>
              <a:t>‹#›</a:t>
            </a:fld>
            <a:endParaRPr lang="en-US"/>
          </a:p>
        </p:txBody>
      </p:sp>
    </p:spTree>
    <p:extLst>
      <p:ext uri="{BB962C8B-B14F-4D97-AF65-F5344CB8AC3E}">
        <p14:creationId xmlns:p14="http://schemas.microsoft.com/office/powerpoint/2010/main" val="609395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9CF314-6451-754D-AFE2-DAF956D03209}" type="slidenum">
              <a:rPr lang="en-US" smtClean="0"/>
              <a:t>1</a:t>
            </a:fld>
            <a:endParaRPr lang="en-US"/>
          </a:p>
        </p:txBody>
      </p:sp>
    </p:spTree>
    <p:extLst>
      <p:ext uri="{BB962C8B-B14F-4D97-AF65-F5344CB8AC3E}">
        <p14:creationId xmlns:p14="http://schemas.microsoft.com/office/powerpoint/2010/main" val="41922103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9CF314-6451-754D-AFE2-DAF956D03209}" type="slidenum">
              <a:rPr lang="en-US" smtClean="0"/>
              <a:t>2</a:t>
            </a:fld>
            <a:endParaRPr lang="en-US"/>
          </a:p>
        </p:txBody>
      </p:sp>
    </p:spTree>
    <p:extLst>
      <p:ext uri="{BB962C8B-B14F-4D97-AF65-F5344CB8AC3E}">
        <p14:creationId xmlns:p14="http://schemas.microsoft.com/office/powerpoint/2010/main" val="38846375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9CF314-6451-754D-AFE2-DAF956D03209}" type="slidenum">
              <a:rPr lang="en-US" smtClean="0"/>
              <a:t>3</a:t>
            </a:fld>
            <a:endParaRPr lang="en-US"/>
          </a:p>
        </p:txBody>
      </p:sp>
    </p:spTree>
    <p:extLst>
      <p:ext uri="{BB962C8B-B14F-4D97-AF65-F5344CB8AC3E}">
        <p14:creationId xmlns:p14="http://schemas.microsoft.com/office/powerpoint/2010/main" val="8621211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9CF314-6451-754D-AFE2-DAF956D03209}" type="slidenum">
              <a:rPr lang="en-US" smtClean="0"/>
              <a:t>4</a:t>
            </a:fld>
            <a:endParaRPr lang="en-US"/>
          </a:p>
        </p:txBody>
      </p:sp>
    </p:spTree>
    <p:extLst>
      <p:ext uri="{BB962C8B-B14F-4D97-AF65-F5344CB8AC3E}">
        <p14:creationId xmlns:p14="http://schemas.microsoft.com/office/powerpoint/2010/main" val="39868224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9CF314-6451-754D-AFE2-DAF956D03209}" type="slidenum">
              <a:rPr lang="en-US" smtClean="0"/>
              <a:t>5</a:t>
            </a:fld>
            <a:endParaRPr lang="en-US"/>
          </a:p>
        </p:txBody>
      </p:sp>
    </p:spTree>
    <p:extLst>
      <p:ext uri="{BB962C8B-B14F-4D97-AF65-F5344CB8AC3E}">
        <p14:creationId xmlns:p14="http://schemas.microsoft.com/office/powerpoint/2010/main" val="4891458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9CF314-6451-754D-AFE2-DAF956D03209}" type="slidenum">
              <a:rPr lang="en-US" smtClean="0"/>
              <a:t>6</a:t>
            </a:fld>
            <a:endParaRPr lang="en-US"/>
          </a:p>
        </p:txBody>
      </p:sp>
    </p:spTree>
    <p:extLst>
      <p:ext uri="{BB962C8B-B14F-4D97-AF65-F5344CB8AC3E}">
        <p14:creationId xmlns:p14="http://schemas.microsoft.com/office/powerpoint/2010/main" val="15444943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9CF314-6451-754D-AFE2-DAF956D03209}" type="slidenum">
              <a:rPr lang="en-US" smtClean="0"/>
              <a:t>7</a:t>
            </a:fld>
            <a:endParaRPr lang="en-US"/>
          </a:p>
        </p:txBody>
      </p:sp>
    </p:spTree>
    <p:extLst>
      <p:ext uri="{BB962C8B-B14F-4D97-AF65-F5344CB8AC3E}">
        <p14:creationId xmlns:p14="http://schemas.microsoft.com/office/powerpoint/2010/main" val="38973300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9CF314-6451-754D-AFE2-DAF956D03209}" type="slidenum">
              <a:rPr lang="en-US" smtClean="0"/>
              <a:t>8</a:t>
            </a:fld>
            <a:endParaRPr lang="en-US"/>
          </a:p>
        </p:txBody>
      </p:sp>
    </p:spTree>
    <p:extLst>
      <p:ext uri="{BB962C8B-B14F-4D97-AF65-F5344CB8AC3E}">
        <p14:creationId xmlns:p14="http://schemas.microsoft.com/office/powerpoint/2010/main" val="41731504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AC25D-F922-B746-9A70-DBEF767A6E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49A9F0E-6B26-C54B-BC8E-BE722E359E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5F29E97-2D20-B14F-8AF8-EA44C06608AA}"/>
              </a:ext>
            </a:extLst>
          </p:cNvPr>
          <p:cNvSpPr>
            <a:spLocks noGrp="1"/>
          </p:cNvSpPr>
          <p:nvPr>
            <p:ph type="dt" sz="half" idx="10"/>
          </p:nvPr>
        </p:nvSpPr>
        <p:spPr/>
        <p:txBody>
          <a:bodyPr/>
          <a:lstStyle/>
          <a:p>
            <a:fld id="{01FABE52-74C0-4449-A82E-4AEF794E8C4D}" type="datetimeFigureOut">
              <a:rPr lang="en-US" smtClean="0"/>
              <a:t>11/30/25</a:t>
            </a:fld>
            <a:endParaRPr lang="en-US"/>
          </a:p>
        </p:txBody>
      </p:sp>
      <p:sp>
        <p:nvSpPr>
          <p:cNvPr id="5" name="Footer Placeholder 4">
            <a:extLst>
              <a:ext uri="{FF2B5EF4-FFF2-40B4-BE49-F238E27FC236}">
                <a16:creationId xmlns:a16="http://schemas.microsoft.com/office/drawing/2014/main" id="{01DE68A4-436C-6B49-89C3-F106487DA8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F01D27-D0DE-6143-AFDF-0F6F1FA15C38}"/>
              </a:ext>
            </a:extLst>
          </p:cNvPr>
          <p:cNvSpPr>
            <a:spLocks noGrp="1"/>
          </p:cNvSpPr>
          <p:nvPr>
            <p:ph type="sldNum" sz="quarter" idx="12"/>
          </p:nvPr>
        </p:nvSpPr>
        <p:spPr/>
        <p:txBody>
          <a:bodyPr/>
          <a:lstStyle/>
          <a:p>
            <a:fld id="{0B84ABFF-D714-5E4C-8409-CF24B028649F}" type="slidenum">
              <a:rPr lang="en-US" smtClean="0"/>
              <a:t>‹#›</a:t>
            </a:fld>
            <a:endParaRPr lang="en-US"/>
          </a:p>
        </p:txBody>
      </p:sp>
    </p:spTree>
    <p:extLst>
      <p:ext uri="{BB962C8B-B14F-4D97-AF65-F5344CB8AC3E}">
        <p14:creationId xmlns:p14="http://schemas.microsoft.com/office/powerpoint/2010/main" val="9171066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15CE1-7A58-FE4D-8891-84828C80F7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4561BFB-D804-624C-811A-C8DC29D9CBE4}"/>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731F82-D3BC-A748-A249-319E1E27EA67}"/>
              </a:ext>
            </a:extLst>
          </p:cNvPr>
          <p:cNvSpPr>
            <a:spLocks noGrp="1"/>
          </p:cNvSpPr>
          <p:nvPr>
            <p:ph type="dt" sz="half" idx="10"/>
          </p:nvPr>
        </p:nvSpPr>
        <p:spPr/>
        <p:txBody>
          <a:bodyPr/>
          <a:lstStyle/>
          <a:p>
            <a:fld id="{01FABE52-74C0-4449-A82E-4AEF794E8C4D}" type="datetimeFigureOut">
              <a:rPr lang="en-US" smtClean="0"/>
              <a:t>11/30/25</a:t>
            </a:fld>
            <a:endParaRPr lang="en-US"/>
          </a:p>
        </p:txBody>
      </p:sp>
      <p:sp>
        <p:nvSpPr>
          <p:cNvPr id="5" name="Footer Placeholder 4">
            <a:extLst>
              <a:ext uri="{FF2B5EF4-FFF2-40B4-BE49-F238E27FC236}">
                <a16:creationId xmlns:a16="http://schemas.microsoft.com/office/drawing/2014/main" id="{25A04461-7F4C-B246-B27F-BBB531C664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17B88C-360C-5B41-8F98-5B289EC19755}"/>
              </a:ext>
            </a:extLst>
          </p:cNvPr>
          <p:cNvSpPr>
            <a:spLocks noGrp="1"/>
          </p:cNvSpPr>
          <p:nvPr>
            <p:ph type="sldNum" sz="quarter" idx="12"/>
          </p:nvPr>
        </p:nvSpPr>
        <p:spPr/>
        <p:txBody>
          <a:bodyPr/>
          <a:lstStyle/>
          <a:p>
            <a:fld id="{0B84ABFF-D714-5E4C-8409-CF24B028649F}" type="slidenum">
              <a:rPr lang="en-US" smtClean="0"/>
              <a:t>‹#›</a:t>
            </a:fld>
            <a:endParaRPr lang="en-US"/>
          </a:p>
        </p:txBody>
      </p:sp>
    </p:spTree>
    <p:extLst>
      <p:ext uri="{BB962C8B-B14F-4D97-AF65-F5344CB8AC3E}">
        <p14:creationId xmlns:p14="http://schemas.microsoft.com/office/powerpoint/2010/main" val="30034494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CA93A-3DF0-C04E-9E7D-559E971431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BBE38E0-6B08-0445-92A0-D0CBAE6AE67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67A717C8-882E-8F48-9492-325A3874BB13}"/>
              </a:ext>
            </a:extLst>
          </p:cNvPr>
          <p:cNvSpPr>
            <a:spLocks noGrp="1"/>
          </p:cNvSpPr>
          <p:nvPr>
            <p:ph type="dt" sz="half" idx="10"/>
          </p:nvPr>
        </p:nvSpPr>
        <p:spPr/>
        <p:txBody>
          <a:bodyPr/>
          <a:lstStyle/>
          <a:p>
            <a:fld id="{01FABE52-74C0-4449-A82E-4AEF794E8C4D}" type="datetimeFigureOut">
              <a:rPr lang="en-US" smtClean="0"/>
              <a:t>11/30/25</a:t>
            </a:fld>
            <a:endParaRPr lang="en-US"/>
          </a:p>
        </p:txBody>
      </p:sp>
      <p:sp>
        <p:nvSpPr>
          <p:cNvPr id="5" name="Footer Placeholder 4">
            <a:extLst>
              <a:ext uri="{FF2B5EF4-FFF2-40B4-BE49-F238E27FC236}">
                <a16:creationId xmlns:a16="http://schemas.microsoft.com/office/drawing/2014/main" id="{E2CD0014-D531-154C-A897-E179ADC610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488E9D-1100-5F49-B977-EACA818B002E}"/>
              </a:ext>
            </a:extLst>
          </p:cNvPr>
          <p:cNvSpPr>
            <a:spLocks noGrp="1"/>
          </p:cNvSpPr>
          <p:nvPr>
            <p:ph type="sldNum" sz="quarter" idx="12"/>
          </p:nvPr>
        </p:nvSpPr>
        <p:spPr/>
        <p:txBody>
          <a:bodyPr/>
          <a:lstStyle/>
          <a:p>
            <a:fld id="{0B84ABFF-D714-5E4C-8409-CF24B028649F}" type="slidenum">
              <a:rPr lang="en-US" smtClean="0"/>
              <a:t>‹#›</a:t>
            </a:fld>
            <a:endParaRPr lang="en-US"/>
          </a:p>
        </p:txBody>
      </p:sp>
    </p:spTree>
    <p:extLst>
      <p:ext uri="{BB962C8B-B14F-4D97-AF65-F5344CB8AC3E}">
        <p14:creationId xmlns:p14="http://schemas.microsoft.com/office/powerpoint/2010/main" val="41047964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DCF20-13F4-C148-A70D-23E4FC2105E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ADAFA08-B828-C74E-A990-38983A22F5E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C8DBD4F-6203-E648-87B4-D673D6E4D0B8}"/>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858B72B-507A-5A4E-B4D0-D98ED90F5AA1}"/>
              </a:ext>
            </a:extLst>
          </p:cNvPr>
          <p:cNvSpPr>
            <a:spLocks noGrp="1"/>
          </p:cNvSpPr>
          <p:nvPr>
            <p:ph type="dt" sz="half" idx="10"/>
          </p:nvPr>
        </p:nvSpPr>
        <p:spPr/>
        <p:txBody>
          <a:bodyPr/>
          <a:lstStyle/>
          <a:p>
            <a:fld id="{01FABE52-74C0-4449-A82E-4AEF794E8C4D}" type="datetimeFigureOut">
              <a:rPr lang="en-US" smtClean="0"/>
              <a:t>11/30/25</a:t>
            </a:fld>
            <a:endParaRPr lang="en-US"/>
          </a:p>
        </p:txBody>
      </p:sp>
      <p:sp>
        <p:nvSpPr>
          <p:cNvPr id="6" name="Footer Placeholder 5">
            <a:extLst>
              <a:ext uri="{FF2B5EF4-FFF2-40B4-BE49-F238E27FC236}">
                <a16:creationId xmlns:a16="http://schemas.microsoft.com/office/drawing/2014/main" id="{47A675CC-9E7E-4E42-8511-94F50FB428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395513-DBCF-0D49-A283-CF3CB8BCBF96}"/>
              </a:ext>
            </a:extLst>
          </p:cNvPr>
          <p:cNvSpPr>
            <a:spLocks noGrp="1"/>
          </p:cNvSpPr>
          <p:nvPr>
            <p:ph type="sldNum" sz="quarter" idx="12"/>
          </p:nvPr>
        </p:nvSpPr>
        <p:spPr/>
        <p:txBody>
          <a:bodyPr/>
          <a:lstStyle/>
          <a:p>
            <a:fld id="{0B84ABFF-D714-5E4C-8409-CF24B028649F}" type="slidenum">
              <a:rPr lang="en-US" smtClean="0"/>
              <a:t>‹#›</a:t>
            </a:fld>
            <a:endParaRPr lang="en-US"/>
          </a:p>
        </p:txBody>
      </p:sp>
    </p:spTree>
    <p:extLst>
      <p:ext uri="{BB962C8B-B14F-4D97-AF65-F5344CB8AC3E}">
        <p14:creationId xmlns:p14="http://schemas.microsoft.com/office/powerpoint/2010/main" val="31605292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3DE97-69CE-2545-B2B4-DB80B8E0E27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1D9329B-548C-3340-ADF1-E0BE1A0A81C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B8BA96D-6B97-8B47-A39F-E4C24480E6B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BE0CB88-257B-CD4C-92FA-48937E0F24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207B3324-CF0A-4145-960F-C8E58BAB2EC8}"/>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DE9CC07-1626-AB4C-B093-120035061866}"/>
              </a:ext>
            </a:extLst>
          </p:cNvPr>
          <p:cNvSpPr>
            <a:spLocks noGrp="1"/>
          </p:cNvSpPr>
          <p:nvPr>
            <p:ph type="dt" sz="half" idx="10"/>
          </p:nvPr>
        </p:nvSpPr>
        <p:spPr/>
        <p:txBody>
          <a:bodyPr/>
          <a:lstStyle/>
          <a:p>
            <a:fld id="{01FABE52-74C0-4449-A82E-4AEF794E8C4D}" type="datetimeFigureOut">
              <a:rPr lang="en-US" smtClean="0"/>
              <a:t>11/30/25</a:t>
            </a:fld>
            <a:endParaRPr lang="en-US"/>
          </a:p>
        </p:txBody>
      </p:sp>
      <p:sp>
        <p:nvSpPr>
          <p:cNvPr id="8" name="Footer Placeholder 7">
            <a:extLst>
              <a:ext uri="{FF2B5EF4-FFF2-40B4-BE49-F238E27FC236}">
                <a16:creationId xmlns:a16="http://schemas.microsoft.com/office/drawing/2014/main" id="{F3FD3B8F-5340-D44A-992B-D3A6DDCC522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8D3F4F7-033F-6F46-8CD8-64C7EFEC81CD}"/>
              </a:ext>
            </a:extLst>
          </p:cNvPr>
          <p:cNvSpPr>
            <a:spLocks noGrp="1"/>
          </p:cNvSpPr>
          <p:nvPr>
            <p:ph type="sldNum" sz="quarter" idx="12"/>
          </p:nvPr>
        </p:nvSpPr>
        <p:spPr/>
        <p:txBody>
          <a:bodyPr/>
          <a:lstStyle/>
          <a:p>
            <a:fld id="{0B84ABFF-D714-5E4C-8409-CF24B028649F}" type="slidenum">
              <a:rPr lang="en-US" smtClean="0"/>
              <a:t>‹#›</a:t>
            </a:fld>
            <a:endParaRPr lang="en-US"/>
          </a:p>
        </p:txBody>
      </p:sp>
    </p:spTree>
    <p:extLst>
      <p:ext uri="{BB962C8B-B14F-4D97-AF65-F5344CB8AC3E}">
        <p14:creationId xmlns:p14="http://schemas.microsoft.com/office/powerpoint/2010/main" val="29575786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E7B13-AE27-2D48-B861-E5058C25B5C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2DE5DEF-2FC9-6349-9E8F-E658ED88C6BA}"/>
              </a:ext>
            </a:extLst>
          </p:cNvPr>
          <p:cNvSpPr>
            <a:spLocks noGrp="1"/>
          </p:cNvSpPr>
          <p:nvPr>
            <p:ph type="dt" sz="half" idx="10"/>
          </p:nvPr>
        </p:nvSpPr>
        <p:spPr/>
        <p:txBody>
          <a:bodyPr/>
          <a:lstStyle/>
          <a:p>
            <a:fld id="{01FABE52-74C0-4449-A82E-4AEF794E8C4D}" type="datetimeFigureOut">
              <a:rPr lang="en-US" smtClean="0"/>
              <a:t>11/30/25</a:t>
            </a:fld>
            <a:endParaRPr lang="en-US"/>
          </a:p>
        </p:txBody>
      </p:sp>
      <p:sp>
        <p:nvSpPr>
          <p:cNvPr id="4" name="Footer Placeholder 3">
            <a:extLst>
              <a:ext uri="{FF2B5EF4-FFF2-40B4-BE49-F238E27FC236}">
                <a16:creationId xmlns:a16="http://schemas.microsoft.com/office/drawing/2014/main" id="{8EAC2F9B-967A-7F40-ABD9-8DD06401689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5BFEBB8-029C-AA4D-9D60-3FE74AB8D240}"/>
              </a:ext>
            </a:extLst>
          </p:cNvPr>
          <p:cNvSpPr>
            <a:spLocks noGrp="1"/>
          </p:cNvSpPr>
          <p:nvPr>
            <p:ph type="sldNum" sz="quarter" idx="12"/>
          </p:nvPr>
        </p:nvSpPr>
        <p:spPr/>
        <p:txBody>
          <a:bodyPr/>
          <a:lstStyle/>
          <a:p>
            <a:fld id="{0B84ABFF-D714-5E4C-8409-CF24B028649F}" type="slidenum">
              <a:rPr lang="en-US" smtClean="0"/>
              <a:t>‹#›</a:t>
            </a:fld>
            <a:endParaRPr lang="en-US"/>
          </a:p>
        </p:txBody>
      </p:sp>
    </p:spTree>
    <p:extLst>
      <p:ext uri="{BB962C8B-B14F-4D97-AF65-F5344CB8AC3E}">
        <p14:creationId xmlns:p14="http://schemas.microsoft.com/office/powerpoint/2010/main" val="21672962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FAA307E-E65E-F94F-A421-6665454CCC80}"/>
              </a:ext>
            </a:extLst>
          </p:cNvPr>
          <p:cNvSpPr>
            <a:spLocks noGrp="1"/>
          </p:cNvSpPr>
          <p:nvPr>
            <p:ph type="dt" sz="half" idx="10"/>
          </p:nvPr>
        </p:nvSpPr>
        <p:spPr/>
        <p:txBody>
          <a:bodyPr/>
          <a:lstStyle/>
          <a:p>
            <a:fld id="{01FABE52-74C0-4449-A82E-4AEF794E8C4D}" type="datetimeFigureOut">
              <a:rPr lang="en-US" smtClean="0"/>
              <a:t>11/30/25</a:t>
            </a:fld>
            <a:endParaRPr lang="en-US"/>
          </a:p>
        </p:txBody>
      </p:sp>
      <p:sp>
        <p:nvSpPr>
          <p:cNvPr id="3" name="Footer Placeholder 2">
            <a:extLst>
              <a:ext uri="{FF2B5EF4-FFF2-40B4-BE49-F238E27FC236}">
                <a16:creationId xmlns:a16="http://schemas.microsoft.com/office/drawing/2014/main" id="{978CDDDE-D1F5-3445-9E02-EF225AF2CA6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5FDDC12-6510-6744-AB1F-FF301C99B4F1}"/>
              </a:ext>
            </a:extLst>
          </p:cNvPr>
          <p:cNvSpPr>
            <a:spLocks noGrp="1"/>
          </p:cNvSpPr>
          <p:nvPr>
            <p:ph type="sldNum" sz="quarter" idx="12"/>
          </p:nvPr>
        </p:nvSpPr>
        <p:spPr/>
        <p:txBody>
          <a:bodyPr/>
          <a:lstStyle/>
          <a:p>
            <a:fld id="{0B84ABFF-D714-5E4C-8409-CF24B028649F}" type="slidenum">
              <a:rPr lang="en-US" smtClean="0"/>
              <a:t>‹#›</a:t>
            </a:fld>
            <a:endParaRPr lang="en-US"/>
          </a:p>
        </p:txBody>
      </p:sp>
    </p:spTree>
    <p:extLst>
      <p:ext uri="{BB962C8B-B14F-4D97-AF65-F5344CB8AC3E}">
        <p14:creationId xmlns:p14="http://schemas.microsoft.com/office/powerpoint/2010/main" val="21555361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618E0-5F75-094F-AF8D-83675CD5DC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81ACEEF-84D8-1C4E-8109-011D32D3632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9FDE188-A5DF-A045-9DA4-8C32FDC7EA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76CF674-B7F1-884A-BD43-0DDFE68C4573}"/>
              </a:ext>
            </a:extLst>
          </p:cNvPr>
          <p:cNvSpPr>
            <a:spLocks noGrp="1"/>
          </p:cNvSpPr>
          <p:nvPr>
            <p:ph type="dt" sz="half" idx="10"/>
          </p:nvPr>
        </p:nvSpPr>
        <p:spPr/>
        <p:txBody>
          <a:bodyPr/>
          <a:lstStyle/>
          <a:p>
            <a:fld id="{01FABE52-74C0-4449-A82E-4AEF794E8C4D}" type="datetimeFigureOut">
              <a:rPr lang="en-US" smtClean="0"/>
              <a:t>11/30/25</a:t>
            </a:fld>
            <a:endParaRPr lang="en-US"/>
          </a:p>
        </p:txBody>
      </p:sp>
      <p:sp>
        <p:nvSpPr>
          <p:cNvPr id="6" name="Footer Placeholder 5">
            <a:extLst>
              <a:ext uri="{FF2B5EF4-FFF2-40B4-BE49-F238E27FC236}">
                <a16:creationId xmlns:a16="http://schemas.microsoft.com/office/drawing/2014/main" id="{2A79DB32-51AB-5841-A50A-90B3EF147D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625F05-C4B2-4845-8455-EE102D2D1840}"/>
              </a:ext>
            </a:extLst>
          </p:cNvPr>
          <p:cNvSpPr>
            <a:spLocks noGrp="1"/>
          </p:cNvSpPr>
          <p:nvPr>
            <p:ph type="sldNum" sz="quarter" idx="12"/>
          </p:nvPr>
        </p:nvSpPr>
        <p:spPr/>
        <p:txBody>
          <a:bodyPr/>
          <a:lstStyle/>
          <a:p>
            <a:fld id="{0B84ABFF-D714-5E4C-8409-CF24B028649F}" type="slidenum">
              <a:rPr lang="en-US" smtClean="0"/>
              <a:t>‹#›</a:t>
            </a:fld>
            <a:endParaRPr lang="en-US"/>
          </a:p>
        </p:txBody>
      </p:sp>
    </p:spTree>
    <p:extLst>
      <p:ext uri="{BB962C8B-B14F-4D97-AF65-F5344CB8AC3E}">
        <p14:creationId xmlns:p14="http://schemas.microsoft.com/office/powerpoint/2010/main" val="22083609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1039C-487E-634C-B3C9-1FB0B09CFE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1284271-D343-6746-BA5C-DD13D538B7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AA8663B-2732-AF4D-926E-2392B731D9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141064F-BB2C-5A4B-B14F-86F8B4DB6943}"/>
              </a:ext>
            </a:extLst>
          </p:cNvPr>
          <p:cNvSpPr>
            <a:spLocks noGrp="1"/>
          </p:cNvSpPr>
          <p:nvPr>
            <p:ph type="dt" sz="half" idx="10"/>
          </p:nvPr>
        </p:nvSpPr>
        <p:spPr/>
        <p:txBody>
          <a:bodyPr/>
          <a:lstStyle/>
          <a:p>
            <a:fld id="{01FABE52-74C0-4449-A82E-4AEF794E8C4D}" type="datetimeFigureOut">
              <a:rPr lang="en-US" smtClean="0"/>
              <a:t>11/30/25</a:t>
            </a:fld>
            <a:endParaRPr lang="en-US"/>
          </a:p>
        </p:txBody>
      </p:sp>
      <p:sp>
        <p:nvSpPr>
          <p:cNvPr id="6" name="Footer Placeholder 5">
            <a:extLst>
              <a:ext uri="{FF2B5EF4-FFF2-40B4-BE49-F238E27FC236}">
                <a16:creationId xmlns:a16="http://schemas.microsoft.com/office/drawing/2014/main" id="{629D46D5-BC1C-EF48-9BBE-0B18B33093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4B75F1-EC0A-A94D-A279-311A77A8A921}"/>
              </a:ext>
            </a:extLst>
          </p:cNvPr>
          <p:cNvSpPr>
            <a:spLocks noGrp="1"/>
          </p:cNvSpPr>
          <p:nvPr>
            <p:ph type="sldNum" sz="quarter" idx="12"/>
          </p:nvPr>
        </p:nvSpPr>
        <p:spPr/>
        <p:txBody>
          <a:bodyPr/>
          <a:lstStyle/>
          <a:p>
            <a:fld id="{0B84ABFF-D714-5E4C-8409-CF24B028649F}" type="slidenum">
              <a:rPr lang="en-US" smtClean="0"/>
              <a:t>‹#›</a:t>
            </a:fld>
            <a:endParaRPr lang="en-US"/>
          </a:p>
        </p:txBody>
      </p:sp>
    </p:spTree>
    <p:extLst>
      <p:ext uri="{BB962C8B-B14F-4D97-AF65-F5344CB8AC3E}">
        <p14:creationId xmlns:p14="http://schemas.microsoft.com/office/powerpoint/2010/main" val="6041406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5A963-A2B8-6A4F-B8A1-B917AAD1711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EF11B0-E08B-1945-8643-AE2DC7A8426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C2C47E-63C5-8343-8DD2-FC4C99E7B69D}"/>
              </a:ext>
            </a:extLst>
          </p:cNvPr>
          <p:cNvSpPr>
            <a:spLocks noGrp="1"/>
          </p:cNvSpPr>
          <p:nvPr>
            <p:ph type="dt" sz="half" idx="10"/>
          </p:nvPr>
        </p:nvSpPr>
        <p:spPr/>
        <p:txBody>
          <a:bodyPr/>
          <a:lstStyle/>
          <a:p>
            <a:fld id="{01FABE52-74C0-4449-A82E-4AEF794E8C4D}" type="datetimeFigureOut">
              <a:rPr lang="en-US" smtClean="0"/>
              <a:t>11/30/25</a:t>
            </a:fld>
            <a:endParaRPr lang="en-US"/>
          </a:p>
        </p:txBody>
      </p:sp>
      <p:sp>
        <p:nvSpPr>
          <p:cNvPr id="5" name="Footer Placeholder 4">
            <a:extLst>
              <a:ext uri="{FF2B5EF4-FFF2-40B4-BE49-F238E27FC236}">
                <a16:creationId xmlns:a16="http://schemas.microsoft.com/office/drawing/2014/main" id="{7F3B18C6-45B0-4F40-882E-41C0DAD077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2B5436-A954-B14B-9DAD-0952CF4612D9}"/>
              </a:ext>
            </a:extLst>
          </p:cNvPr>
          <p:cNvSpPr>
            <a:spLocks noGrp="1"/>
          </p:cNvSpPr>
          <p:nvPr>
            <p:ph type="sldNum" sz="quarter" idx="12"/>
          </p:nvPr>
        </p:nvSpPr>
        <p:spPr/>
        <p:txBody>
          <a:bodyPr/>
          <a:lstStyle/>
          <a:p>
            <a:fld id="{0B84ABFF-D714-5E4C-8409-CF24B028649F}" type="slidenum">
              <a:rPr lang="en-US" smtClean="0"/>
              <a:t>‹#›</a:t>
            </a:fld>
            <a:endParaRPr lang="en-US"/>
          </a:p>
        </p:txBody>
      </p:sp>
    </p:spTree>
    <p:extLst>
      <p:ext uri="{BB962C8B-B14F-4D97-AF65-F5344CB8AC3E}">
        <p14:creationId xmlns:p14="http://schemas.microsoft.com/office/powerpoint/2010/main" val="38954084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77063F4-710B-404B-A173-82A1DC0D2D0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9B04CB7-1D9E-DA43-8FC7-5FACA39CFCC7}"/>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0DF71A-FF66-FB4A-B299-821D748C76C7}"/>
              </a:ext>
            </a:extLst>
          </p:cNvPr>
          <p:cNvSpPr>
            <a:spLocks noGrp="1"/>
          </p:cNvSpPr>
          <p:nvPr>
            <p:ph type="dt" sz="half" idx="10"/>
          </p:nvPr>
        </p:nvSpPr>
        <p:spPr/>
        <p:txBody>
          <a:bodyPr/>
          <a:lstStyle/>
          <a:p>
            <a:fld id="{01FABE52-74C0-4449-A82E-4AEF794E8C4D}" type="datetimeFigureOut">
              <a:rPr lang="en-US" smtClean="0"/>
              <a:t>11/30/25</a:t>
            </a:fld>
            <a:endParaRPr lang="en-US"/>
          </a:p>
        </p:txBody>
      </p:sp>
      <p:sp>
        <p:nvSpPr>
          <p:cNvPr id="5" name="Footer Placeholder 4">
            <a:extLst>
              <a:ext uri="{FF2B5EF4-FFF2-40B4-BE49-F238E27FC236}">
                <a16:creationId xmlns:a16="http://schemas.microsoft.com/office/drawing/2014/main" id="{B33D2F75-65A5-F643-9E5D-56A13B3474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300F60-A372-824A-9A29-33446CFCFA2C}"/>
              </a:ext>
            </a:extLst>
          </p:cNvPr>
          <p:cNvSpPr>
            <a:spLocks noGrp="1"/>
          </p:cNvSpPr>
          <p:nvPr>
            <p:ph type="sldNum" sz="quarter" idx="12"/>
          </p:nvPr>
        </p:nvSpPr>
        <p:spPr/>
        <p:txBody>
          <a:bodyPr/>
          <a:lstStyle/>
          <a:p>
            <a:fld id="{0B84ABFF-D714-5E4C-8409-CF24B028649F}" type="slidenum">
              <a:rPr lang="en-US" smtClean="0"/>
              <a:t>‹#›</a:t>
            </a:fld>
            <a:endParaRPr lang="en-US"/>
          </a:p>
        </p:txBody>
      </p:sp>
    </p:spTree>
    <p:extLst>
      <p:ext uri="{BB962C8B-B14F-4D97-AF65-F5344CB8AC3E}">
        <p14:creationId xmlns:p14="http://schemas.microsoft.com/office/powerpoint/2010/main" val="28710816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A49120-51F5-3641-B5DF-4B59CCE54FF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5D347A-047F-2546-8802-2D1E5E29F7C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8F7234-20C3-9D42-94C2-7EE9FBE8FB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FABE52-74C0-4449-A82E-4AEF794E8C4D}" type="datetimeFigureOut">
              <a:rPr lang="en-US" smtClean="0"/>
              <a:t>11/30/25</a:t>
            </a:fld>
            <a:endParaRPr lang="en-US"/>
          </a:p>
        </p:txBody>
      </p:sp>
      <p:sp>
        <p:nvSpPr>
          <p:cNvPr id="5" name="Footer Placeholder 4">
            <a:extLst>
              <a:ext uri="{FF2B5EF4-FFF2-40B4-BE49-F238E27FC236}">
                <a16:creationId xmlns:a16="http://schemas.microsoft.com/office/drawing/2014/main" id="{741B583E-1770-5A4E-830D-D11CFA81C84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0C1A04A-FB1B-EA43-9566-3C09BB1E34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84ABFF-D714-5E4C-8409-CF24B028649F}" type="slidenum">
              <a:rPr lang="en-US" smtClean="0"/>
              <a:t>‹#›</a:t>
            </a:fld>
            <a:endParaRPr lang="en-US"/>
          </a:p>
        </p:txBody>
      </p:sp>
    </p:spTree>
    <p:extLst>
      <p:ext uri="{BB962C8B-B14F-4D97-AF65-F5344CB8AC3E}">
        <p14:creationId xmlns:p14="http://schemas.microsoft.com/office/powerpoint/2010/main" val="39605162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4BDEA-2B9D-B840-809F-2653FC5DF999}"/>
              </a:ext>
            </a:extLst>
          </p:cNvPr>
          <p:cNvSpPr>
            <a:spLocks noGrp="1"/>
          </p:cNvSpPr>
          <p:nvPr>
            <p:ph type="title"/>
          </p:nvPr>
        </p:nvSpPr>
        <p:spPr>
          <a:xfrm>
            <a:off x="0" y="678094"/>
            <a:ext cx="12192000" cy="934949"/>
          </a:xfrm>
          <a:solidFill>
            <a:schemeClr val="accent2">
              <a:lumMod val="20000"/>
              <a:lumOff val="80000"/>
            </a:schemeClr>
          </a:solidFill>
        </p:spPr>
        <p:txBody>
          <a:bodyPr/>
          <a:lstStyle/>
          <a:p>
            <a:r>
              <a:rPr lang="en-US" b="1" dirty="0"/>
              <a:t>Problem 1 (50 points) Dam Breaking</a:t>
            </a:r>
          </a:p>
        </p:txBody>
      </p:sp>
      <p:sp>
        <p:nvSpPr>
          <p:cNvPr id="5" name="Rectangle 4">
            <a:extLst>
              <a:ext uri="{FF2B5EF4-FFF2-40B4-BE49-F238E27FC236}">
                <a16:creationId xmlns:a16="http://schemas.microsoft.com/office/drawing/2014/main" id="{958934F1-EFDA-3042-B8D1-1627EF63AA28}"/>
              </a:ext>
            </a:extLst>
          </p:cNvPr>
          <p:cNvSpPr/>
          <p:nvPr/>
        </p:nvSpPr>
        <p:spPr>
          <a:xfrm>
            <a:off x="0" y="0"/>
            <a:ext cx="12192000" cy="678094"/>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CS526  Final Exam</a:t>
            </a:r>
          </a:p>
        </p:txBody>
      </p:sp>
      <p:sp>
        <p:nvSpPr>
          <p:cNvPr id="6" name="Footer Placeholder 5">
            <a:extLst>
              <a:ext uri="{FF2B5EF4-FFF2-40B4-BE49-F238E27FC236}">
                <a16:creationId xmlns:a16="http://schemas.microsoft.com/office/drawing/2014/main" id="{5B12AFAF-307E-C046-A210-B750151EF6F1}"/>
              </a:ext>
            </a:extLst>
          </p:cNvPr>
          <p:cNvSpPr>
            <a:spLocks noGrp="1"/>
          </p:cNvSpPr>
          <p:nvPr>
            <p:ph type="ftr" sz="quarter" idx="11"/>
          </p:nvPr>
        </p:nvSpPr>
        <p:spPr/>
        <p:txBody>
          <a:bodyPr/>
          <a:lstStyle/>
          <a:p>
            <a:r>
              <a:rPr lang="en-US"/>
              <a:t>Boston University Metropolitan College</a:t>
            </a:r>
          </a:p>
        </p:txBody>
      </p:sp>
      <p:sp>
        <p:nvSpPr>
          <p:cNvPr id="7" name="Slide Number Placeholder 6">
            <a:extLst>
              <a:ext uri="{FF2B5EF4-FFF2-40B4-BE49-F238E27FC236}">
                <a16:creationId xmlns:a16="http://schemas.microsoft.com/office/drawing/2014/main" id="{37980371-C631-6347-9CDD-6C6B37EC7D7D}"/>
              </a:ext>
            </a:extLst>
          </p:cNvPr>
          <p:cNvSpPr>
            <a:spLocks noGrp="1"/>
          </p:cNvSpPr>
          <p:nvPr>
            <p:ph type="sldNum" sz="quarter" idx="12"/>
          </p:nvPr>
        </p:nvSpPr>
        <p:spPr/>
        <p:txBody>
          <a:bodyPr/>
          <a:lstStyle/>
          <a:p>
            <a:fld id="{F0E4876E-C529-7042-8A86-14EE2C2A0384}" type="slidenum">
              <a:rPr lang="en-US" smtClean="0"/>
              <a:t>1</a:t>
            </a:fld>
            <a:endParaRPr lang="en-US"/>
          </a:p>
        </p:txBody>
      </p:sp>
      <p:sp>
        <p:nvSpPr>
          <p:cNvPr id="20" name="Content Placeholder 2">
            <a:extLst>
              <a:ext uri="{FF2B5EF4-FFF2-40B4-BE49-F238E27FC236}">
                <a16:creationId xmlns:a16="http://schemas.microsoft.com/office/drawing/2014/main" id="{DE583E3C-EE0D-E648-90CF-E0827356DCE9}"/>
              </a:ext>
            </a:extLst>
          </p:cNvPr>
          <p:cNvSpPr>
            <a:spLocks noGrp="1"/>
          </p:cNvSpPr>
          <p:nvPr>
            <p:ph sz="half" idx="1"/>
          </p:nvPr>
        </p:nvSpPr>
        <p:spPr>
          <a:xfrm>
            <a:off x="0" y="1356187"/>
            <a:ext cx="12192000" cy="5083523"/>
          </a:xfrm>
          <a:solidFill>
            <a:schemeClr val="accent2">
              <a:lumMod val="20000"/>
              <a:lumOff val="80000"/>
            </a:schemeClr>
          </a:solidFill>
        </p:spPr>
        <p:txBody>
          <a:bodyPr>
            <a:normAutofit/>
          </a:bodyPr>
          <a:lstStyle/>
          <a:p>
            <a:pPr lvl="1"/>
            <a:endParaRPr lang="en-US" sz="700" dirty="0"/>
          </a:p>
          <a:p>
            <a:pPr marL="0" indent="0">
              <a:buNone/>
            </a:pPr>
            <a:r>
              <a:rPr lang="en-US" dirty="0"/>
              <a:t>Save the village from flooding! The dam is weakening! You are the only person with the skills to fix cracks in the dam. Cracks of different sizes appear at different times. Every time unit they remain unfixed, they get a little larger. You can work fast enough to fix one crack every time unit. Each time unit, the ground in the village can absorb some of the incoming water, but if the total floodwaters reach or exceed a certain level, the village must be evacuated. </a:t>
            </a:r>
            <a:endParaRPr lang="en-US" sz="1800" dirty="0"/>
          </a:p>
          <a:p>
            <a:pPr marL="0" indent="0">
              <a:buNone/>
            </a:pPr>
            <a:endParaRPr lang="en-US" sz="1800" dirty="0"/>
          </a:p>
          <a:p>
            <a:pPr marL="0" indent="0">
              <a:buNone/>
            </a:pPr>
            <a:endParaRPr lang="en-US" sz="1800" dirty="0"/>
          </a:p>
        </p:txBody>
      </p:sp>
    </p:spTree>
    <p:extLst>
      <p:ext uri="{BB962C8B-B14F-4D97-AF65-F5344CB8AC3E}">
        <p14:creationId xmlns:p14="http://schemas.microsoft.com/office/powerpoint/2010/main" val="15387688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4BDEA-2B9D-B840-809F-2653FC5DF999}"/>
              </a:ext>
            </a:extLst>
          </p:cNvPr>
          <p:cNvSpPr>
            <a:spLocks noGrp="1"/>
          </p:cNvSpPr>
          <p:nvPr>
            <p:ph type="title"/>
          </p:nvPr>
        </p:nvSpPr>
        <p:spPr>
          <a:xfrm>
            <a:off x="0" y="678094"/>
            <a:ext cx="12192000" cy="934949"/>
          </a:xfrm>
          <a:solidFill>
            <a:schemeClr val="accent2">
              <a:lumMod val="20000"/>
              <a:lumOff val="80000"/>
            </a:schemeClr>
          </a:solidFill>
        </p:spPr>
        <p:txBody>
          <a:bodyPr/>
          <a:lstStyle/>
          <a:p>
            <a:r>
              <a:rPr lang="en-US" b="1" dirty="0"/>
              <a:t>Problem 1 (50 points) Dam Breaking</a:t>
            </a:r>
          </a:p>
        </p:txBody>
      </p:sp>
      <p:sp>
        <p:nvSpPr>
          <p:cNvPr id="5" name="Rectangle 4">
            <a:extLst>
              <a:ext uri="{FF2B5EF4-FFF2-40B4-BE49-F238E27FC236}">
                <a16:creationId xmlns:a16="http://schemas.microsoft.com/office/drawing/2014/main" id="{958934F1-EFDA-3042-B8D1-1627EF63AA28}"/>
              </a:ext>
            </a:extLst>
          </p:cNvPr>
          <p:cNvSpPr/>
          <p:nvPr/>
        </p:nvSpPr>
        <p:spPr>
          <a:xfrm>
            <a:off x="0" y="0"/>
            <a:ext cx="12192000" cy="678094"/>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CS526  Final Exam</a:t>
            </a:r>
          </a:p>
        </p:txBody>
      </p:sp>
      <p:sp>
        <p:nvSpPr>
          <p:cNvPr id="6" name="Footer Placeholder 5">
            <a:extLst>
              <a:ext uri="{FF2B5EF4-FFF2-40B4-BE49-F238E27FC236}">
                <a16:creationId xmlns:a16="http://schemas.microsoft.com/office/drawing/2014/main" id="{5B12AFAF-307E-C046-A210-B750151EF6F1}"/>
              </a:ext>
            </a:extLst>
          </p:cNvPr>
          <p:cNvSpPr>
            <a:spLocks noGrp="1"/>
          </p:cNvSpPr>
          <p:nvPr>
            <p:ph type="ftr" sz="quarter" idx="11"/>
          </p:nvPr>
        </p:nvSpPr>
        <p:spPr/>
        <p:txBody>
          <a:bodyPr/>
          <a:lstStyle/>
          <a:p>
            <a:r>
              <a:rPr lang="en-US"/>
              <a:t>Boston University Metropolitan College</a:t>
            </a:r>
          </a:p>
        </p:txBody>
      </p:sp>
      <p:sp>
        <p:nvSpPr>
          <p:cNvPr id="7" name="Slide Number Placeholder 6">
            <a:extLst>
              <a:ext uri="{FF2B5EF4-FFF2-40B4-BE49-F238E27FC236}">
                <a16:creationId xmlns:a16="http://schemas.microsoft.com/office/drawing/2014/main" id="{37980371-C631-6347-9CDD-6C6B37EC7D7D}"/>
              </a:ext>
            </a:extLst>
          </p:cNvPr>
          <p:cNvSpPr>
            <a:spLocks noGrp="1"/>
          </p:cNvSpPr>
          <p:nvPr>
            <p:ph type="sldNum" sz="quarter" idx="12"/>
          </p:nvPr>
        </p:nvSpPr>
        <p:spPr/>
        <p:txBody>
          <a:bodyPr/>
          <a:lstStyle/>
          <a:p>
            <a:fld id="{F0E4876E-C529-7042-8A86-14EE2C2A0384}" type="slidenum">
              <a:rPr lang="en-US" smtClean="0"/>
              <a:t>2</a:t>
            </a:fld>
            <a:endParaRPr lang="en-US"/>
          </a:p>
        </p:txBody>
      </p:sp>
      <p:sp>
        <p:nvSpPr>
          <p:cNvPr id="20" name="Content Placeholder 2">
            <a:extLst>
              <a:ext uri="{FF2B5EF4-FFF2-40B4-BE49-F238E27FC236}">
                <a16:creationId xmlns:a16="http://schemas.microsoft.com/office/drawing/2014/main" id="{DE583E3C-EE0D-E648-90CF-E0827356DCE9}"/>
              </a:ext>
            </a:extLst>
          </p:cNvPr>
          <p:cNvSpPr>
            <a:spLocks noGrp="1"/>
          </p:cNvSpPr>
          <p:nvPr>
            <p:ph sz="half" idx="1"/>
          </p:nvPr>
        </p:nvSpPr>
        <p:spPr>
          <a:xfrm>
            <a:off x="0" y="1613043"/>
            <a:ext cx="12192000" cy="4743308"/>
          </a:xfrm>
          <a:solidFill>
            <a:schemeClr val="accent2">
              <a:lumMod val="20000"/>
              <a:lumOff val="80000"/>
            </a:schemeClr>
          </a:solidFill>
        </p:spPr>
        <p:txBody>
          <a:bodyPr>
            <a:normAutofit fontScale="92500" lnSpcReduction="20000"/>
          </a:bodyPr>
          <a:lstStyle/>
          <a:p>
            <a:pPr lvl="1"/>
            <a:endParaRPr lang="en-US" sz="700" dirty="0"/>
          </a:p>
          <a:p>
            <a:pPr marL="0" indent="0">
              <a:buNone/>
            </a:pPr>
            <a:r>
              <a:rPr lang="en-US" sz="2700" dirty="0"/>
              <a:t>Input specification: the first line contains the integer n, representing the number of cracks that occur in the dam. </a:t>
            </a:r>
          </a:p>
          <a:p>
            <a:pPr marL="0" indent="0">
              <a:buNone/>
            </a:pPr>
            <a:r>
              <a:rPr lang="en-US" sz="2700" dirty="0"/>
              <a:t>The second line contains a positive integer indicating the threshold (units of water) for how much flooding the village can withstand before having to evacuate. If the floodwaters equal or exceed this threshold, the village is considered flooded and must be evacuated. </a:t>
            </a:r>
          </a:p>
          <a:p>
            <a:pPr marL="0" indent="0">
              <a:buNone/>
            </a:pPr>
            <a:r>
              <a:rPr lang="en-US" sz="2700" dirty="0"/>
              <a:t>The third line contains a positive integer indicating the amount (units of water) that drain out of the village each time unit. </a:t>
            </a:r>
          </a:p>
          <a:p>
            <a:pPr marL="0" indent="0">
              <a:buNone/>
            </a:pPr>
            <a:r>
              <a:rPr lang="en-US" sz="2700" dirty="0"/>
              <a:t>Following that are n lines. Each line contains 2 values, separated by a space, that specify a particular crack. The first value on a line indicates the time unit that the crack appears. This value is guaranteed to be a non-negative integer. The second value on the line indicates the initial size associated with this crack. This value is guaranteed to be a positive integer. It represents the number of units of water that can flow through it in one time unit. You may assume that n is not bigger than 1,000,000 and that each input value fits in a 32-bit integer. You may also assume that the input file lists the cracks in non-decreasing order of time of appearance.</a:t>
            </a:r>
          </a:p>
          <a:p>
            <a:endParaRPr lang="en-US" dirty="0"/>
          </a:p>
        </p:txBody>
      </p:sp>
    </p:spTree>
    <p:extLst>
      <p:ext uri="{BB962C8B-B14F-4D97-AF65-F5344CB8AC3E}">
        <p14:creationId xmlns:p14="http://schemas.microsoft.com/office/powerpoint/2010/main" val="24253146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4BDEA-2B9D-B840-809F-2653FC5DF999}"/>
              </a:ext>
            </a:extLst>
          </p:cNvPr>
          <p:cNvSpPr>
            <a:spLocks noGrp="1"/>
          </p:cNvSpPr>
          <p:nvPr>
            <p:ph type="title"/>
          </p:nvPr>
        </p:nvSpPr>
        <p:spPr>
          <a:xfrm>
            <a:off x="0" y="678094"/>
            <a:ext cx="12192000" cy="934949"/>
          </a:xfrm>
          <a:solidFill>
            <a:schemeClr val="accent2">
              <a:lumMod val="20000"/>
              <a:lumOff val="80000"/>
            </a:schemeClr>
          </a:solidFill>
        </p:spPr>
        <p:txBody>
          <a:bodyPr/>
          <a:lstStyle/>
          <a:p>
            <a:r>
              <a:rPr lang="en-US" b="1" dirty="0"/>
              <a:t>Problem 1 (50 points) Dam Breaking</a:t>
            </a:r>
          </a:p>
        </p:txBody>
      </p:sp>
      <p:sp>
        <p:nvSpPr>
          <p:cNvPr id="5" name="Rectangle 4">
            <a:extLst>
              <a:ext uri="{FF2B5EF4-FFF2-40B4-BE49-F238E27FC236}">
                <a16:creationId xmlns:a16="http://schemas.microsoft.com/office/drawing/2014/main" id="{958934F1-EFDA-3042-B8D1-1627EF63AA28}"/>
              </a:ext>
            </a:extLst>
          </p:cNvPr>
          <p:cNvSpPr/>
          <p:nvPr/>
        </p:nvSpPr>
        <p:spPr>
          <a:xfrm>
            <a:off x="0" y="0"/>
            <a:ext cx="12192000" cy="678094"/>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CS526  Final Exam</a:t>
            </a:r>
          </a:p>
        </p:txBody>
      </p:sp>
      <p:sp>
        <p:nvSpPr>
          <p:cNvPr id="6" name="Footer Placeholder 5">
            <a:extLst>
              <a:ext uri="{FF2B5EF4-FFF2-40B4-BE49-F238E27FC236}">
                <a16:creationId xmlns:a16="http://schemas.microsoft.com/office/drawing/2014/main" id="{5B12AFAF-307E-C046-A210-B750151EF6F1}"/>
              </a:ext>
            </a:extLst>
          </p:cNvPr>
          <p:cNvSpPr>
            <a:spLocks noGrp="1"/>
          </p:cNvSpPr>
          <p:nvPr>
            <p:ph type="ftr" sz="quarter" idx="11"/>
          </p:nvPr>
        </p:nvSpPr>
        <p:spPr/>
        <p:txBody>
          <a:bodyPr/>
          <a:lstStyle/>
          <a:p>
            <a:r>
              <a:rPr lang="en-US"/>
              <a:t>Boston University Metropolitan College</a:t>
            </a:r>
          </a:p>
        </p:txBody>
      </p:sp>
      <p:sp>
        <p:nvSpPr>
          <p:cNvPr id="7" name="Slide Number Placeholder 6">
            <a:extLst>
              <a:ext uri="{FF2B5EF4-FFF2-40B4-BE49-F238E27FC236}">
                <a16:creationId xmlns:a16="http://schemas.microsoft.com/office/drawing/2014/main" id="{37980371-C631-6347-9CDD-6C6B37EC7D7D}"/>
              </a:ext>
            </a:extLst>
          </p:cNvPr>
          <p:cNvSpPr>
            <a:spLocks noGrp="1"/>
          </p:cNvSpPr>
          <p:nvPr>
            <p:ph type="sldNum" sz="quarter" idx="12"/>
          </p:nvPr>
        </p:nvSpPr>
        <p:spPr/>
        <p:txBody>
          <a:bodyPr/>
          <a:lstStyle/>
          <a:p>
            <a:fld id="{F0E4876E-C529-7042-8A86-14EE2C2A0384}" type="slidenum">
              <a:rPr lang="en-US" smtClean="0"/>
              <a:t>3</a:t>
            </a:fld>
            <a:endParaRPr lang="en-US"/>
          </a:p>
        </p:txBody>
      </p:sp>
      <p:sp>
        <p:nvSpPr>
          <p:cNvPr id="20" name="Content Placeholder 2">
            <a:extLst>
              <a:ext uri="{FF2B5EF4-FFF2-40B4-BE49-F238E27FC236}">
                <a16:creationId xmlns:a16="http://schemas.microsoft.com/office/drawing/2014/main" id="{DE583E3C-EE0D-E648-90CF-E0827356DCE9}"/>
              </a:ext>
            </a:extLst>
          </p:cNvPr>
          <p:cNvSpPr>
            <a:spLocks noGrp="1"/>
          </p:cNvSpPr>
          <p:nvPr>
            <p:ph sz="half" idx="1"/>
          </p:nvPr>
        </p:nvSpPr>
        <p:spPr>
          <a:xfrm>
            <a:off x="0" y="1613043"/>
            <a:ext cx="12192000" cy="4743308"/>
          </a:xfrm>
          <a:solidFill>
            <a:schemeClr val="accent2">
              <a:lumMod val="20000"/>
              <a:lumOff val="80000"/>
            </a:schemeClr>
          </a:solidFill>
        </p:spPr>
        <p:txBody>
          <a:bodyPr>
            <a:normAutofit fontScale="77500" lnSpcReduction="20000"/>
          </a:bodyPr>
          <a:lstStyle/>
          <a:p>
            <a:pPr lvl="1"/>
            <a:endParaRPr lang="en-US" sz="700" dirty="0"/>
          </a:p>
          <a:p>
            <a:pPr marL="0" indent="0">
              <a:buNone/>
            </a:pPr>
            <a:r>
              <a:rPr lang="en-US" dirty="0"/>
              <a:t>You are able to fix one crack per time unit, and can choose to fix a crack in the same time unit that it appears, or delay it for a later time unit. Note that there may be multiple cracks that appear at the same time unit. (The problem is trivial if this doesn't occur.) At the end of a time unit, all remaining,</a:t>
            </a:r>
          </a:p>
          <a:p>
            <a:pPr marL="0" indent="0">
              <a:buNone/>
            </a:pPr>
            <a:r>
              <a:rPr lang="en-US" dirty="0"/>
              <a:t>unfixed cracks increase in size by one.</a:t>
            </a:r>
          </a:p>
          <a:p>
            <a:pPr marL="0" indent="0">
              <a:buNone/>
            </a:pPr>
            <a:r>
              <a:rPr lang="en-US" dirty="0"/>
              <a:t>To simplify, we will discretize these continuous processes as follows. In time unit t:</a:t>
            </a:r>
          </a:p>
          <a:p>
            <a:pPr lvl="1"/>
            <a:r>
              <a:rPr lang="en-US" dirty="0"/>
              <a:t>All new cracks that appear in time unit t appear at the beginning of the time unit.</a:t>
            </a:r>
          </a:p>
          <a:p>
            <a:pPr lvl="1"/>
            <a:r>
              <a:rPr lang="en-US" dirty="0"/>
              <a:t>You are able to instantaneously fix one crack that appeared at time unit t, or that appeared earlier but was not fixed yet.</a:t>
            </a:r>
          </a:p>
          <a:p>
            <a:pPr lvl="1"/>
            <a:r>
              <a:rPr lang="en-US" dirty="0"/>
              <a:t>The floodwaters in the village are adjusted in a single calculation, that adds floodwater according to the total size of all the current, unfixed</a:t>
            </a:r>
          </a:p>
          <a:p>
            <a:pPr lvl="1"/>
            <a:r>
              <a:rPr lang="en-US" dirty="0"/>
              <a:t>cracks, and decreases floodwater according to the amount that can be drained in one time unit. The floodwaters can never go below zero (you</a:t>
            </a:r>
          </a:p>
          <a:p>
            <a:pPr lvl="1"/>
            <a:r>
              <a:rPr lang="en-US" dirty="0"/>
              <a:t>can't drain water that isn't present). If the floodwaters ever equal or exceed the threshold, the village is flooded and must be evacuated at that</a:t>
            </a:r>
          </a:p>
          <a:p>
            <a:pPr lvl="1"/>
            <a:r>
              <a:rPr lang="en-US" dirty="0"/>
              <a:t>point.</a:t>
            </a:r>
          </a:p>
          <a:p>
            <a:pPr lvl="1"/>
            <a:r>
              <a:rPr lang="en-US" dirty="0"/>
              <a:t>Finally, all of the remaining cracks increase in size by 1. This essentially happens all at once as the current time unit ends.</a:t>
            </a:r>
          </a:p>
          <a:p>
            <a:pPr marL="0" indent="0">
              <a:buNone/>
            </a:pPr>
            <a:endParaRPr lang="en-US" dirty="0"/>
          </a:p>
          <a:p>
            <a:endParaRPr lang="en-US" dirty="0"/>
          </a:p>
        </p:txBody>
      </p:sp>
    </p:spTree>
    <p:extLst>
      <p:ext uri="{BB962C8B-B14F-4D97-AF65-F5344CB8AC3E}">
        <p14:creationId xmlns:p14="http://schemas.microsoft.com/office/powerpoint/2010/main" val="31090049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4BDEA-2B9D-B840-809F-2653FC5DF999}"/>
              </a:ext>
            </a:extLst>
          </p:cNvPr>
          <p:cNvSpPr>
            <a:spLocks noGrp="1"/>
          </p:cNvSpPr>
          <p:nvPr>
            <p:ph type="title"/>
          </p:nvPr>
        </p:nvSpPr>
        <p:spPr>
          <a:xfrm>
            <a:off x="0" y="678094"/>
            <a:ext cx="12192000" cy="934949"/>
          </a:xfrm>
          <a:solidFill>
            <a:schemeClr val="accent2">
              <a:lumMod val="20000"/>
              <a:lumOff val="80000"/>
            </a:schemeClr>
          </a:solidFill>
        </p:spPr>
        <p:txBody>
          <a:bodyPr/>
          <a:lstStyle/>
          <a:p>
            <a:r>
              <a:rPr lang="en-US" b="1" dirty="0"/>
              <a:t>Problem 1 (50 points) Dam Breaking</a:t>
            </a:r>
          </a:p>
        </p:txBody>
      </p:sp>
      <p:sp>
        <p:nvSpPr>
          <p:cNvPr id="5" name="Rectangle 4">
            <a:extLst>
              <a:ext uri="{FF2B5EF4-FFF2-40B4-BE49-F238E27FC236}">
                <a16:creationId xmlns:a16="http://schemas.microsoft.com/office/drawing/2014/main" id="{958934F1-EFDA-3042-B8D1-1627EF63AA28}"/>
              </a:ext>
            </a:extLst>
          </p:cNvPr>
          <p:cNvSpPr/>
          <p:nvPr/>
        </p:nvSpPr>
        <p:spPr>
          <a:xfrm>
            <a:off x="0" y="0"/>
            <a:ext cx="12192000" cy="678094"/>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CS526  Final Exam</a:t>
            </a:r>
          </a:p>
        </p:txBody>
      </p:sp>
      <p:sp>
        <p:nvSpPr>
          <p:cNvPr id="6" name="Footer Placeholder 5">
            <a:extLst>
              <a:ext uri="{FF2B5EF4-FFF2-40B4-BE49-F238E27FC236}">
                <a16:creationId xmlns:a16="http://schemas.microsoft.com/office/drawing/2014/main" id="{5B12AFAF-307E-C046-A210-B750151EF6F1}"/>
              </a:ext>
            </a:extLst>
          </p:cNvPr>
          <p:cNvSpPr>
            <a:spLocks noGrp="1"/>
          </p:cNvSpPr>
          <p:nvPr>
            <p:ph type="ftr" sz="quarter" idx="11"/>
          </p:nvPr>
        </p:nvSpPr>
        <p:spPr/>
        <p:txBody>
          <a:bodyPr/>
          <a:lstStyle/>
          <a:p>
            <a:r>
              <a:rPr lang="en-US"/>
              <a:t>Boston University Metropolitan College</a:t>
            </a:r>
          </a:p>
        </p:txBody>
      </p:sp>
      <p:sp>
        <p:nvSpPr>
          <p:cNvPr id="7" name="Slide Number Placeholder 6">
            <a:extLst>
              <a:ext uri="{FF2B5EF4-FFF2-40B4-BE49-F238E27FC236}">
                <a16:creationId xmlns:a16="http://schemas.microsoft.com/office/drawing/2014/main" id="{37980371-C631-6347-9CDD-6C6B37EC7D7D}"/>
              </a:ext>
            </a:extLst>
          </p:cNvPr>
          <p:cNvSpPr>
            <a:spLocks noGrp="1"/>
          </p:cNvSpPr>
          <p:nvPr>
            <p:ph type="sldNum" sz="quarter" idx="12"/>
          </p:nvPr>
        </p:nvSpPr>
        <p:spPr/>
        <p:txBody>
          <a:bodyPr/>
          <a:lstStyle/>
          <a:p>
            <a:fld id="{F0E4876E-C529-7042-8A86-14EE2C2A0384}" type="slidenum">
              <a:rPr lang="en-US" smtClean="0"/>
              <a:t>4</a:t>
            </a:fld>
            <a:endParaRPr lang="en-US"/>
          </a:p>
        </p:txBody>
      </p:sp>
      <p:sp>
        <p:nvSpPr>
          <p:cNvPr id="20" name="Content Placeholder 2">
            <a:extLst>
              <a:ext uri="{FF2B5EF4-FFF2-40B4-BE49-F238E27FC236}">
                <a16:creationId xmlns:a16="http://schemas.microsoft.com/office/drawing/2014/main" id="{DE583E3C-EE0D-E648-90CF-E0827356DCE9}"/>
              </a:ext>
            </a:extLst>
          </p:cNvPr>
          <p:cNvSpPr>
            <a:spLocks noGrp="1"/>
          </p:cNvSpPr>
          <p:nvPr>
            <p:ph sz="half" idx="1"/>
          </p:nvPr>
        </p:nvSpPr>
        <p:spPr>
          <a:xfrm>
            <a:off x="0" y="1613043"/>
            <a:ext cx="12192000" cy="4743308"/>
          </a:xfrm>
          <a:solidFill>
            <a:schemeClr val="accent2">
              <a:lumMod val="20000"/>
              <a:lumOff val="80000"/>
            </a:schemeClr>
          </a:solidFill>
        </p:spPr>
        <p:txBody>
          <a:bodyPr>
            <a:normAutofit fontScale="92500"/>
          </a:bodyPr>
          <a:lstStyle/>
          <a:p>
            <a:pPr lvl="1"/>
            <a:endParaRPr lang="en-US" sz="700" dirty="0"/>
          </a:p>
          <a:p>
            <a:pPr marL="0" indent="0">
              <a:buNone/>
            </a:pPr>
            <a:r>
              <a:rPr lang="en-US" dirty="0"/>
              <a:t>Output specification: to help with debugging, the output includes a couple of pieces of information. If flooding occurs, the output contains three lines</a:t>
            </a:r>
          </a:p>
          <a:p>
            <a:pPr marL="0" indent="0">
              <a:buNone/>
            </a:pPr>
            <a:r>
              <a:rPr lang="en-US" dirty="0"/>
              <a:t>of information. The first line is the word "FLOOD". The second line contains an integer indicating which time unit resulted in flooding. The third line</a:t>
            </a:r>
          </a:p>
          <a:p>
            <a:pPr marL="0" indent="0">
              <a:buNone/>
            </a:pPr>
            <a:r>
              <a:rPr lang="en-US" dirty="0"/>
              <a:t>indicates the total units of floodwater present when flooding occurred. If flooding does not occur, the output contains two lines of information. The</a:t>
            </a:r>
          </a:p>
          <a:p>
            <a:pPr marL="0" indent="0">
              <a:buNone/>
            </a:pPr>
            <a:r>
              <a:rPr lang="en-US" dirty="0"/>
              <a:t>first line is the word "SAFE". The second line contains an integer indicating the maximum value the floodwaters ever reached.</a:t>
            </a:r>
          </a:p>
          <a:p>
            <a:pPr marL="0" indent="0">
              <a:buNone/>
            </a:pPr>
            <a:r>
              <a:rPr lang="en-US" dirty="0"/>
              <a:t>You should submit a </a:t>
            </a:r>
            <a:r>
              <a:rPr lang="en-US" dirty="0" err="1"/>
              <a:t>readme.txt</a:t>
            </a:r>
            <a:r>
              <a:rPr lang="en-US" dirty="0"/>
              <a:t> file with an explanation of your code and algorithms. You must provide exact instructions on how to run your code and you must submit screen shots of your running code on all provided inputs and printing your result to the console</a:t>
            </a:r>
          </a:p>
          <a:p>
            <a:pPr marL="0" indent="0">
              <a:buNone/>
            </a:pPr>
            <a:endParaRPr lang="en-US" dirty="0"/>
          </a:p>
          <a:p>
            <a:endParaRPr lang="en-US" dirty="0"/>
          </a:p>
        </p:txBody>
      </p:sp>
    </p:spTree>
    <p:extLst>
      <p:ext uri="{BB962C8B-B14F-4D97-AF65-F5344CB8AC3E}">
        <p14:creationId xmlns:p14="http://schemas.microsoft.com/office/powerpoint/2010/main" val="42823911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4BDEA-2B9D-B840-809F-2653FC5DF999}"/>
              </a:ext>
            </a:extLst>
          </p:cNvPr>
          <p:cNvSpPr>
            <a:spLocks noGrp="1"/>
          </p:cNvSpPr>
          <p:nvPr>
            <p:ph type="title"/>
          </p:nvPr>
        </p:nvSpPr>
        <p:spPr>
          <a:xfrm>
            <a:off x="0" y="678094"/>
            <a:ext cx="12192000" cy="934949"/>
          </a:xfrm>
          <a:solidFill>
            <a:schemeClr val="accent2">
              <a:lumMod val="20000"/>
              <a:lumOff val="80000"/>
            </a:schemeClr>
          </a:solidFill>
        </p:spPr>
        <p:txBody>
          <a:bodyPr/>
          <a:lstStyle/>
          <a:p>
            <a:r>
              <a:rPr lang="en-US" b="1" dirty="0"/>
              <a:t>Problem 1 (50 points) Dam Breaking</a:t>
            </a:r>
          </a:p>
        </p:txBody>
      </p:sp>
      <p:sp>
        <p:nvSpPr>
          <p:cNvPr id="5" name="Rectangle 4">
            <a:extLst>
              <a:ext uri="{FF2B5EF4-FFF2-40B4-BE49-F238E27FC236}">
                <a16:creationId xmlns:a16="http://schemas.microsoft.com/office/drawing/2014/main" id="{958934F1-EFDA-3042-B8D1-1627EF63AA28}"/>
              </a:ext>
            </a:extLst>
          </p:cNvPr>
          <p:cNvSpPr/>
          <p:nvPr/>
        </p:nvSpPr>
        <p:spPr>
          <a:xfrm>
            <a:off x="0" y="0"/>
            <a:ext cx="12192000" cy="678094"/>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CS526  Final Exam</a:t>
            </a:r>
          </a:p>
        </p:txBody>
      </p:sp>
      <p:sp>
        <p:nvSpPr>
          <p:cNvPr id="6" name="Footer Placeholder 5">
            <a:extLst>
              <a:ext uri="{FF2B5EF4-FFF2-40B4-BE49-F238E27FC236}">
                <a16:creationId xmlns:a16="http://schemas.microsoft.com/office/drawing/2014/main" id="{5B12AFAF-307E-C046-A210-B750151EF6F1}"/>
              </a:ext>
            </a:extLst>
          </p:cNvPr>
          <p:cNvSpPr>
            <a:spLocks noGrp="1"/>
          </p:cNvSpPr>
          <p:nvPr>
            <p:ph type="ftr" sz="quarter" idx="11"/>
          </p:nvPr>
        </p:nvSpPr>
        <p:spPr/>
        <p:txBody>
          <a:bodyPr/>
          <a:lstStyle/>
          <a:p>
            <a:r>
              <a:rPr lang="en-US"/>
              <a:t>Boston University Metropolitan College</a:t>
            </a:r>
          </a:p>
        </p:txBody>
      </p:sp>
      <p:sp>
        <p:nvSpPr>
          <p:cNvPr id="7" name="Slide Number Placeholder 6">
            <a:extLst>
              <a:ext uri="{FF2B5EF4-FFF2-40B4-BE49-F238E27FC236}">
                <a16:creationId xmlns:a16="http://schemas.microsoft.com/office/drawing/2014/main" id="{37980371-C631-6347-9CDD-6C6B37EC7D7D}"/>
              </a:ext>
            </a:extLst>
          </p:cNvPr>
          <p:cNvSpPr>
            <a:spLocks noGrp="1"/>
          </p:cNvSpPr>
          <p:nvPr>
            <p:ph type="sldNum" sz="quarter" idx="12"/>
          </p:nvPr>
        </p:nvSpPr>
        <p:spPr/>
        <p:txBody>
          <a:bodyPr/>
          <a:lstStyle/>
          <a:p>
            <a:fld id="{F0E4876E-C529-7042-8A86-14EE2C2A0384}" type="slidenum">
              <a:rPr lang="en-US" smtClean="0"/>
              <a:t>5</a:t>
            </a:fld>
            <a:endParaRPr lang="en-US"/>
          </a:p>
        </p:txBody>
      </p:sp>
      <p:sp>
        <p:nvSpPr>
          <p:cNvPr id="20" name="Content Placeholder 2">
            <a:extLst>
              <a:ext uri="{FF2B5EF4-FFF2-40B4-BE49-F238E27FC236}">
                <a16:creationId xmlns:a16="http://schemas.microsoft.com/office/drawing/2014/main" id="{DE583E3C-EE0D-E648-90CF-E0827356DCE9}"/>
              </a:ext>
            </a:extLst>
          </p:cNvPr>
          <p:cNvSpPr>
            <a:spLocks noGrp="1"/>
          </p:cNvSpPr>
          <p:nvPr>
            <p:ph sz="half" idx="1"/>
          </p:nvPr>
        </p:nvSpPr>
        <p:spPr>
          <a:xfrm>
            <a:off x="0" y="1613043"/>
            <a:ext cx="12192000" cy="4743308"/>
          </a:xfrm>
          <a:solidFill>
            <a:schemeClr val="accent2">
              <a:lumMod val="20000"/>
              <a:lumOff val="80000"/>
            </a:schemeClr>
          </a:solidFill>
        </p:spPr>
        <p:txBody>
          <a:bodyPr>
            <a:normAutofit fontScale="92500" lnSpcReduction="10000"/>
          </a:bodyPr>
          <a:lstStyle/>
          <a:p>
            <a:pPr lvl="1"/>
            <a:endParaRPr lang="en-US" sz="700" dirty="0"/>
          </a:p>
          <a:p>
            <a:pPr marL="0" indent="0">
              <a:buNone/>
            </a:pPr>
            <a:r>
              <a:rPr lang="en-US" dirty="0"/>
              <a:t>Sample input file:</a:t>
            </a:r>
          </a:p>
          <a:p>
            <a:pPr marL="0" indent="0">
              <a:buNone/>
            </a:pPr>
            <a:r>
              <a:rPr lang="en-US" dirty="0"/>
              <a:t>2</a:t>
            </a:r>
            <a:br>
              <a:rPr lang="en-US" dirty="0"/>
            </a:br>
            <a:r>
              <a:rPr lang="en-US" dirty="0"/>
              <a:t>10</a:t>
            </a:r>
            <a:br>
              <a:rPr lang="en-US" dirty="0"/>
            </a:br>
            <a:r>
              <a:rPr lang="en-US" dirty="0"/>
              <a:t>3</a:t>
            </a:r>
            <a:br>
              <a:rPr lang="en-US" dirty="0"/>
            </a:br>
            <a:r>
              <a:rPr lang="en-US" dirty="0"/>
              <a:t>0 7</a:t>
            </a:r>
            <a:br>
              <a:rPr lang="en-US" dirty="0"/>
            </a:br>
            <a:r>
              <a:rPr lang="en-US" dirty="0"/>
              <a:t>0 8</a:t>
            </a:r>
          </a:p>
          <a:p>
            <a:pPr marL="0" indent="0">
              <a:buNone/>
            </a:pPr>
            <a:endParaRPr lang="en-US" dirty="0"/>
          </a:p>
          <a:p>
            <a:pPr marL="0" indent="0">
              <a:buNone/>
            </a:pPr>
            <a:r>
              <a:rPr lang="en-US" dirty="0"/>
              <a:t>Output:</a:t>
            </a:r>
          </a:p>
          <a:p>
            <a:pPr marL="0" indent="0">
              <a:buNone/>
            </a:pPr>
            <a:r>
              <a:rPr lang="en-US" dirty="0"/>
              <a:t>python3 </a:t>
            </a:r>
            <a:r>
              <a:rPr lang="en-US" dirty="0" err="1"/>
              <a:t>flood.py</a:t>
            </a:r>
            <a:r>
              <a:rPr lang="en-US" dirty="0"/>
              <a:t> &lt; </a:t>
            </a:r>
            <a:r>
              <a:rPr lang="en-US" dirty="0" err="1"/>
              <a:t>flood_inputs</a:t>
            </a:r>
            <a:r>
              <a:rPr lang="en-US" dirty="0"/>
              <a:t>/flood_1.txt </a:t>
            </a:r>
          </a:p>
          <a:p>
            <a:pPr marL="0" indent="0">
              <a:buNone/>
            </a:pPr>
            <a:r>
              <a:rPr lang="en-US" dirty="0"/>
              <a:t>SAFE</a:t>
            </a:r>
          </a:p>
          <a:p>
            <a:pPr marL="0" indent="0">
              <a:buNone/>
            </a:pPr>
            <a:r>
              <a:rPr lang="en-US" dirty="0"/>
              <a:t>4</a:t>
            </a:r>
          </a:p>
        </p:txBody>
      </p:sp>
    </p:spTree>
    <p:extLst>
      <p:ext uri="{BB962C8B-B14F-4D97-AF65-F5344CB8AC3E}">
        <p14:creationId xmlns:p14="http://schemas.microsoft.com/office/powerpoint/2010/main" val="35345137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4BDEA-2B9D-B840-809F-2653FC5DF999}"/>
              </a:ext>
            </a:extLst>
          </p:cNvPr>
          <p:cNvSpPr>
            <a:spLocks noGrp="1"/>
          </p:cNvSpPr>
          <p:nvPr>
            <p:ph type="title"/>
          </p:nvPr>
        </p:nvSpPr>
        <p:spPr>
          <a:xfrm>
            <a:off x="0" y="678094"/>
            <a:ext cx="12192000" cy="934949"/>
          </a:xfrm>
          <a:solidFill>
            <a:schemeClr val="accent2">
              <a:lumMod val="20000"/>
              <a:lumOff val="80000"/>
            </a:schemeClr>
          </a:solidFill>
        </p:spPr>
        <p:txBody>
          <a:bodyPr/>
          <a:lstStyle/>
          <a:p>
            <a:r>
              <a:rPr lang="en-US" b="1" dirty="0"/>
              <a:t>Problem 1 (50 points) Dam Breaking</a:t>
            </a:r>
          </a:p>
        </p:txBody>
      </p:sp>
      <p:sp>
        <p:nvSpPr>
          <p:cNvPr id="5" name="Rectangle 4">
            <a:extLst>
              <a:ext uri="{FF2B5EF4-FFF2-40B4-BE49-F238E27FC236}">
                <a16:creationId xmlns:a16="http://schemas.microsoft.com/office/drawing/2014/main" id="{958934F1-EFDA-3042-B8D1-1627EF63AA28}"/>
              </a:ext>
            </a:extLst>
          </p:cNvPr>
          <p:cNvSpPr/>
          <p:nvPr/>
        </p:nvSpPr>
        <p:spPr>
          <a:xfrm>
            <a:off x="0" y="0"/>
            <a:ext cx="12192000" cy="678094"/>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CS526  Final Exam</a:t>
            </a:r>
          </a:p>
        </p:txBody>
      </p:sp>
      <p:sp>
        <p:nvSpPr>
          <p:cNvPr id="6" name="Footer Placeholder 5">
            <a:extLst>
              <a:ext uri="{FF2B5EF4-FFF2-40B4-BE49-F238E27FC236}">
                <a16:creationId xmlns:a16="http://schemas.microsoft.com/office/drawing/2014/main" id="{5B12AFAF-307E-C046-A210-B750151EF6F1}"/>
              </a:ext>
            </a:extLst>
          </p:cNvPr>
          <p:cNvSpPr>
            <a:spLocks noGrp="1"/>
          </p:cNvSpPr>
          <p:nvPr>
            <p:ph type="ftr" sz="quarter" idx="11"/>
          </p:nvPr>
        </p:nvSpPr>
        <p:spPr/>
        <p:txBody>
          <a:bodyPr/>
          <a:lstStyle/>
          <a:p>
            <a:r>
              <a:rPr lang="en-US"/>
              <a:t>Boston University Metropolitan College</a:t>
            </a:r>
          </a:p>
        </p:txBody>
      </p:sp>
      <p:sp>
        <p:nvSpPr>
          <p:cNvPr id="7" name="Slide Number Placeholder 6">
            <a:extLst>
              <a:ext uri="{FF2B5EF4-FFF2-40B4-BE49-F238E27FC236}">
                <a16:creationId xmlns:a16="http://schemas.microsoft.com/office/drawing/2014/main" id="{37980371-C631-6347-9CDD-6C6B37EC7D7D}"/>
              </a:ext>
            </a:extLst>
          </p:cNvPr>
          <p:cNvSpPr>
            <a:spLocks noGrp="1"/>
          </p:cNvSpPr>
          <p:nvPr>
            <p:ph type="sldNum" sz="quarter" idx="12"/>
          </p:nvPr>
        </p:nvSpPr>
        <p:spPr/>
        <p:txBody>
          <a:bodyPr/>
          <a:lstStyle/>
          <a:p>
            <a:fld id="{F0E4876E-C529-7042-8A86-14EE2C2A0384}" type="slidenum">
              <a:rPr lang="en-US" smtClean="0"/>
              <a:t>6</a:t>
            </a:fld>
            <a:endParaRPr lang="en-US"/>
          </a:p>
        </p:txBody>
      </p:sp>
      <p:sp>
        <p:nvSpPr>
          <p:cNvPr id="20" name="Content Placeholder 2">
            <a:extLst>
              <a:ext uri="{FF2B5EF4-FFF2-40B4-BE49-F238E27FC236}">
                <a16:creationId xmlns:a16="http://schemas.microsoft.com/office/drawing/2014/main" id="{DE583E3C-EE0D-E648-90CF-E0827356DCE9}"/>
              </a:ext>
            </a:extLst>
          </p:cNvPr>
          <p:cNvSpPr>
            <a:spLocks noGrp="1"/>
          </p:cNvSpPr>
          <p:nvPr>
            <p:ph sz="half" idx="1"/>
          </p:nvPr>
        </p:nvSpPr>
        <p:spPr>
          <a:xfrm>
            <a:off x="0" y="1613043"/>
            <a:ext cx="12192000" cy="4743308"/>
          </a:xfrm>
          <a:solidFill>
            <a:schemeClr val="accent2">
              <a:lumMod val="20000"/>
              <a:lumOff val="80000"/>
            </a:schemeClr>
          </a:solidFill>
        </p:spPr>
        <p:txBody>
          <a:bodyPr>
            <a:normAutofit fontScale="85000" lnSpcReduction="20000"/>
          </a:bodyPr>
          <a:lstStyle/>
          <a:p>
            <a:pPr lvl="1"/>
            <a:endParaRPr lang="en-US" sz="700" dirty="0"/>
          </a:p>
          <a:p>
            <a:pPr marL="0" indent="0">
              <a:buNone/>
            </a:pPr>
            <a:r>
              <a:rPr lang="en-US" dirty="0"/>
              <a:t>Sample input file:</a:t>
            </a:r>
          </a:p>
          <a:p>
            <a:pPr marL="0" indent="0">
              <a:buNone/>
            </a:pPr>
            <a:r>
              <a:rPr lang="en-US" dirty="0"/>
              <a:t>3</a:t>
            </a:r>
            <a:br>
              <a:rPr lang="en-US" dirty="0"/>
            </a:br>
            <a:r>
              <a:rPr lang="en-US" dirty="0"/>
              <a:t>11</a:t>
            </a:r>
            <a:br>
              <a:rPr lang="en-US" dirty="0"/>
            </a:br>
            <a:r>
              <a:rPr lang="en-US" dirty="0"/>
              <a:t>2</a:t>
            </a:r>
            <a:br>
              <a:rPr lang="en-US" dirty="0"/>
            </a:br>
            <a:r>
              <a:rPr lang="en-US" dirty="0"/>
              <a:t>0 7</a:t>
            </a:r>
            <a:br>
              <a:rPr lang="en-US" dirty="0"/>
            </a:br>
            <a:r>
              <a:rPr lang="en-US" dirty="0"/>
              <a:t>0 8</a:t>
            </a:r>
            <a:br>
              <a:rPr lang="en-US" dirty="0"/>
            </a:br>
            <a:r>
              <a:rPr lang="en-US" dirty="0"/>
              <a:t>1 9</a:t>
            </a:r>
          </a:p>
          <a:p>
            <a:pPr marL="0" indent="0">
              <a:buNone/>
            </a:pPr>
            <a:endParaRPr lang="en-US" dirty="0"/>
          </a:p>
          <a:p>
            <a:pPr marL="0" indent="0">
              <a:buNone/>
            </a:pPr>
            <a:r>
              <a:rPr lang="en-US" dirty="0"/>
              <a:t>Output:</a:t>
            </a:r>
          </a:p>
          <a:p>
            <a:pPr marL="0" indent="0">
              <a:buNone/>
            </a:pPr>
            <a:r>
              <a:rPr lang="en-US" dirty="0"/>
              <a:t>python3 </a:t>
            </a:r>
            <a:r>
              <a:rPr lang="en-US" dirty="0" err="1"/>
              <a:t>flood.py</a:t>
            </a:r>
            <a:r>
              <a:rPr lang="en-US" dirty="0"/>
              <a:t> &lt; </a:t>
            </a:r>
            <a:r>
              <a:rPr lang="en-US" dirty="0" err="1"/>
              <a:t>flood_inputs</a:t>
            </a:r>
            <a:r>
              <a:rPr lang="en-US" dirty="0"/>
              <a:t>/flood_2.txt </a:t>
            </a:r>
          </a:p>
          <a:p>
            <a:pPr marL="0" indent="0">
              <a:buNone/>
            </a:pPr>
            <a:r>
              <a:rPr lang="en-US" dirty="0"/>
              <a:t>FLOOD</a:t>
            </a:r>
          </a:p>
          <a:p>
            <a:pPr marL="0" indent="0">
              <a:buNone/>
            </a:pPr>
            <a:r>
              <a:rPr lang="en-US" dirty="0"/>
              <a:t>1</a:t>
            </a:r>
          </a:p>
          <a:p>
            <a:pPr marL="0" indent="0">
              <a:buNone/>
            </a:pPr>
            <a:r>
              <a:rPr lang="en-US" dirty="0"/>
              <a:t>11</a:t>
            </a:r>
          </a:p>
          <a:p>
            <a:pPr marL="0" indent="0">
              <a:buNone/>
            </a:pPr>
            <a:endParaRPr lang="en-US" dirty="0"/>
          </a:p>
        </p:txBody>
      </p:sp>
    </p:spTree>
    <p:extLst>
      <p:ext uri="{BB962C8B-B14F-4D97-AF65-F5344CB8AC3E}">
        <p14:creationId xmlns:p14="http://schemas.microsoft.com/office/powerpoint/2010/main" val="18551751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4BDEA-2B9D-B840-809F-2653FC5DF999}"/>
              </a:ext>
            </a:extLst>
          </p:cNvPr>
          <p:cNvSpPr>
            <a:spLocks noGrp="1"/>
          </p:cNvSpPr>
          <p:nvPr>
            <p:ph type="title"/>
          </p:nvPr>
        </p:nvSpPr>
        <p:spPr>
          <a:xfrm>
            <a:off x="0" y="678094"/>
            <a:ext cx="12192000" cy="934949"/>
          </a:xfrm>
          <a:solidFill>
            <a:schemeClr val="accent2">
              <a:lumMod val="20000"/>
              <a:lumOff val="80000"/>
            </a:schemeClr>
          </a:solidFill>
        </p:spPr>
        <p:txBody>
          <a:bodyPr/>
          <a:lstStyle/>
          <a:p>
            <a:r>
              <a:rPr lang="en-US" b="1" dirty="0"/>
              <a:t>Problem 2 (50 points) Downhill Skier</a:t>
            </a:r>
          </a:p>
        </p:txBody>
      </p:sp>
      <p:sp>
        <p:nvSpPr>
          <p:cNvPr id="5" name="Rectangle 4">
            <a:extLst>
              <a:ext uri="{FF2B5EF4-FFF2-40B4-BE49-F238E27FC236}">
                <a16:creationId xmlns:a16="http://schemas.microsoft.com/office/drawing/2014/main" id="{958934F1-EFDA-3042-B8D1-1627EF63AA28}"/>
              </a:ext>
            </a:extLst>
          </p:cNvPr>
          <p:cNvSpPr/>
          <p:nvPr/>
        </p:nvSpPr>
        <p:spPr>
          <a:xfrm>
            <a:off x="0" y="0"/>
            <a:ext cx="12192000" cy="678094"/>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CS526  Final Exam</a:t>
            </a:r>
          </a:p>
        </p:txBody>
      </p:sp>
      <p:sp>
        <p:nvSpPr>
          <p:cNvPr id="6" name="Footer Placeholder 5">
            <a:extLst>
              <a:ext uri="{FF2B5EF4-FFF2-40B4-BE49-F238E27FC236}">
                <a16:creationId xmlns:a16="http://schemas.microsoft.com/office/drawing/2014/main" id="{5B12AFAF-307E-C046-A210-B750151EF6F1}"/>
              </a:ext>
            </a:extLst>
          </p:cNvPr>
          <p:cNvSpPr>
            <a:spLocks noGrp="1"/>
          </p:cNvSpPr>
          <p:nvPr>
            <p:ph type="ftr" sz="quarter" idx="11"/>
          </p:nvPr>
        </p:nvSpPr>
        <p:spPr/>
        <p:txBody>
          <a:bodyPr/>
          <a:lstStyle/>
          <a:p>
            <a:r>
              <a:rPr lang="en-US"/>
              <a:t>Boston University Metropolitan College</a:t>
            </a:r>
          </a:p>
        </p:txBody>
      </p:sp>
      <p:sp>
        <p:nvSpPr>
          <p:cNvPr id="7" name="Slide Number Placeholder 6">
            <a:extLst>
              <a:ext uri="{FF2B5EF4-FFF2-40B4-BE49-F238E27FC236}">
                <a16:creationId xmlns:a16="http://schemas.microsoft.com/office/drawing/2014/main" id="{37980371-C631-6347-9CDD-6C6B37EC7D7D}"/>
              </a:ext>
            </a:extLst>
          </p:cNvPr>
          <p:cNvSpPr>
            <a:spLocks noGrp="1"/>
          </p:cNvSpPr>
          <p:nvPr>
            <p:ph type="sldNum" sz="quarter" idx="12"/>
          </p:nvPr>
        </p:nvSpPr>
        <p:spPr/>
        <p:txBody>
          <a:bodyPr/>
          <a:lstStyle/>
          <a:p>
            <a:fld id="{F0E4876E-C529-7042-8A86-14EE2C2A0384}" type="slidenum">
              <a:rPr lang="en-US" smtClean="0"/>
              <a:t>7</a:t>
            </a:fld>
            <a:endParaRPr lang="en-US"/>
          </a:p>
        </p:txBody>
      </p:sp>
      <p:sp>
        <p:nvSpPr>
          <p:cNvPr id="20" name="Content Placeholder 2">
            <a:extLst>
              <a:ext uri="{FF2B5EF4-FFF2-40B4-BE49-F238E27FC236}">
                <a16:creationId xmlns:a16="http://schemas.microsoft.com/office/drawing/2014/main" id="{DE583E3C-EE0D-E648-90CF-E0827356DCE9}"/>
              </a:ext>
            </a:extLst>
          </p:cNvPr>
          <p:cNvSpPr>
            <a:spLocks noGrp="1"/>
          </p:cNvSpPr>
          <p:nvPr>
            <p:ph sz="half" idx="1"/>
          </p:nvPr>
        </p:nvSpPr>
        <p:spPr>
          <a:xfrm>
            <a:off x="0" y="1613043"/>
            <a:ext cx="12192000" cy="4743308"/>
          </a:xfrm>
          <a:solidFill>
            <a:schemeClr val="accent2">
              <a:lumMod val="20000"/>
              <a:lumOff val="80000"/>
            </a:schemeClr>
          </a:solidFill>
        </p:spPr>
        <p:txBody>
          <a:bodyPr>
            <a:normAutofit fontScale="92500" lnSpcReduction="10000"/>
          </a:bodyPr>
          <a:lstStyle/>
          <a:p>
            <a:pPr marL="0" indent="0">
              <a:buNone/>
            </a:pPr>
            <a:endParaRPr lang="en-US" sz="1100" dirty="0"/>
          </a:p>
          <a:p>
            <a:pPr marL="0" indent="0">
              <a:buNone/>
            </a:pPr>
            <a:r>
              <a:rPr lang="en-US" dirty="0"/>
              <a:t>You are a downhill skier looking for an adventure. You will be dropped by helicopter as a location of your choosing on a mountain. The mountain is represented as an m x n matric of altitude values. Design an algorithm that determines the longest path you can follow down the mountain such that each successive cell in your path has an altitude lower than the previous cell. </a:t>
            </a:r>
          </a:p>
          <a:p>
            <a:pPr marL="0" indent="0">
              <a:buNone/>
            </a:pPr>
            <a:r>
              <a:rPr lang="en-US" dirty="0"/>
              <a:t>Note: Each Cell has up to eight neighbors, directly adjacent horizontally, vertically or diagonally.</a:t>
            </a:r>
          </a:p>
          <a:p>
            <a:pPr marL="0" indent="0">
              <a:buNone/>
            </a:pPr>
            <a:r>
              <a:rPr lang="en-US" dirty="0"/>
              <a:t>Output the longest path to the terminal.</a:t>
            </a:r>
          </a:p>
          <a:p>
            <a:pPr marL="0" indent="0">
              <a:buNone/>
            </a:pPr>
            <a:endParaRPr lang="en-US" dirty="0"/>
          </a:p>
          <a:p>
            <a:pPr marL="0" indent="0">
              <a:buNone/>
            </a:pPr>
            <a:r>
              <a:rPr lang="en-US" dirty="0"/>
              <a:t>You should submit a </a:t>
            </a:r>
            <a:r>
              <a:rPr lang="en-US" dirty="0" err="1"/>
              <a:t>readme.txt</a:t>
            </a:r>
            <a:r>
              <a:rPr lang="en-US" dirty="0"/>
              <a:t> file with an explanation of your code and algorithms. You must provide exact instructions on how to run your code and you must submit screen shots of your running code on all provided inputs and printing your result to the console.</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8312302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4BDEA-2B9D-B840-809F-2653FC5DF999}"/>
              </a:ext>
            </a:extLst>
          </p:cNvPr>
          <p:cNvSpPr>
            <a:spLocks noGrp="1"/>
          </p:cNvSpPr>
          <p:nvPr>
            <p:ph type="title"/>
          </p:nvPr>
        </p:nvSpPr>
        <p:spPr>
          <a:xfrm>
            <a:off x="0" y="678094"/>
            <a:ext cx="12192000" cy="934949"/>
          </a:xfrm>
          <a:solidFill>
            <a:schemeClr val="accent2">
              <a:lumMod val="20000"/>
              <a:lumOff val="80000"/>
            </a:schemeClr>
          </a:solidFill>
        </p:spPr>
        <p:txBody>
          <a:bodyPr/>
          <a:lstStyle/>
          <a:p>
            <a:r>
              <a:rPr lang="en-US" b="1" dirty="0"/>
              <a:t>Problem 2 (50 points) Downhill Skier</a:t>
            </a:r>
          </a:p>
        </p:txBody>
      </p:sp>
      <p:sp>
        <p:nvSpPr>
          <p:cNvPr id="5" name="Rectangle 4">
            <a:extLst>
              <a:ext uri="{FF2B5EF4-FFF2-40B4-BE49-F238E27FC236}">
                <a16:creationId xmlns:a16="http://schemas.microsoft.com/office/drawing/2014/main" id="{958934F1-EFDA-3042-B8D1-1627EF63AA28}"/>
              </a:ext>
            </a:extLst>
          </p:cNvPr>
          <p:cNvSpPr/>
          <p:nvPr/>
        </p:nvSpPr>
        <p:spPr>
          <a:xfrm>
            <a:off x="0" y="0"/>
            <a:ext cx="12192000" cy="678094"/>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solidFill>
                  <a:schemeClr val="tx1"/>
                </a:solidFill>
              </a:rPr>
              <a:t>CS526  Final Exam</a:t>
            </a:r>
            <a:endParaRPr lang="en-US" sz="1400" dirty="0">
              <a:solidFill>
                <a:schemeClr val="tx1"/>
              </a:solidFill>
            </a:endParaRPr>
          </a:p>
        </p:txBody>
      </p:sp>
      <p:sp>
        <p:nvSpPr>
          <p:cNvPr id="6" name="Footer Placeholder 5">
            <a:extLst>
              <a:ext uri="{FF2B5EF4-FFF2-40B4-BE49-F238E27FC236}">
                <a16:creationId xmlns:a16="http://schemas.microsoft.com/office/drawing/2014/main" id="{5B12AFAF-307E-C046-A210-B750151EF6F1}"/>
              </a:ext>
            </a:extLst>
          </p:cNvPr>
          <p:cNvSpPr>
            <a:spLocks noGrp="1"/>
          </p:cNvSpPr>
          <p:nvPr>
            <p:ph type="ftr" sz="quarter" idx="11"/>
          </p:nvPr>
        </p:nvSpPr>
        <p:spPr/>
        <p:txBody>
          <a:bodyPr/>
          <a:lstStyle/>
          <a:p>
            <a:r>
              <a:rPr lang="en-US"/>
              <a:t>Boston University Metropolitan College</a:t>
            </a:r>
          </a:p>
        </p:txBody>
      </p:sp>
      <p:sp>
        <p:nvSpPr>
          <p:cNvPr id="7" name="Slide Number Placeholder 6">
            <a:extLst>
              <a:ext uri="{FF2B5EF4-FFF2-40B4-BE49-F238E27FC236}">
                <a16:creationId xmlns:a16="http://schemas.microsoft.com/office/drawing/2014/main" id="{37980371-C631-6347-9CDD-6C6B37EC7D7D}"/>
              </a:ext>
            </a:extLst>
          </p:cNvPr>
          <p:cNvSpPr>
            <a:spLocks noGrp="1"/>
          </p:cNvSpPr>
          <p:nvPr>
            <p:ph type="sldNum" sz="quarter" idx="12"/>
          </p:nvPr>
        </p:nvSpPr>
        <p:spPr/>
        <p:txBody>
          <a:bodyPr/>
          <a:lstStyle/>
          <a:p>
            <a:fld id="{F0E4876E-C529-7042-8A86-14EE2C2A0384}" type="slidenum">
              <a:rPr lang="en-US" smtClean="0"/>
              <a:t>8</a:t>
            </a:fld>
            <a:endParaRPr lang="en-US"/>
          </a:p>
        </p:txBody>
      </p:sp>
      <p:sp>
        <p:nvSpPr>
          <p:cNvPr id="20" name="Content Placeholder 2">
            <a:extLst>
              <a:ext uri="{FF2B5EF4-FFF2-40B4-BE49-F238E27FC236}">
                <a16:creationId xmlns:a16="http://schemas.microsoft.com/office/drawing/2014/main" id="{DE583E3C-EE0D-E648-90CF-E0827356DCE9}"/>
              </a:ext>
            </a:extLst>
          </p:cNvPr>
          <p:cNvSpPr>
            <a:spLocks noGrp="1"/>
          </p:cNvSpPr>
          <p:nvPr>
            <p:ph sz="half" idx="1"/>
          </p:nvPr>
        </p:nvSpPr>
        <p:spPr>
          <a:xfrm>
            <a:off x="0" y="1613043"/>
            <a:ext cx="12192000" cy="4743308"/>
          </a:xfrm>
          <a:solidFill>
            <a:schemeClr val="accent2">
              <a:lumMod val="20000"/>
              <a:lumOff val="80000"/>
            </a:schemeClr>
          </a:solidFill>
        </p:spPr>
        <p:txBody>
          <a:bodyPr>
            <a:normAutofit/>
          </a:bodyPr>
          <a:lstStyle/>
          <a:p>
            <a:pPr marL="0" indent="0">
              <a:buNone/>
            </a:pPr>
            <a:endParaRPr lang="en-US" sz="1100" dirty="0"/>
          </a:p>
          <a:p>
            <a:pPr marL="0" indent="0">
              <a:buNone/>
            </a:pPr>
            <a:r>
              <a:rPr lang="en-US" dirty="0"/>
              <a:t>Sample input:</a:t>
            </a:r>
          </a:p>
          <a:p>
            <a:pPr marL="0" indent="0">
              <a:buNone/>
            </a:pPr>
            <a:r>
              <a:rPr lang="en-US" dirty="0"/>
              <a:t>4</a:t>
            </a:r>
            <a:br>
              <a:rPr lang="en-US" dirty="0"/>
            </a:br>
            <a:r>
              <a:rPr lang="en-US" dirty="0"/>
              <a:t>5</a:t>
            </a:r>
            <a:br>
              <a:rPr lang="en-US" dirty="0"/>
            </a:br>
            <a:r>
              <a:rPr lang="en-US" dirty="0"/>
              <a:t>4 8 7 9 8</a:t>
            </a:r>
            <a:br>
              <a:rPr lang="en-US" dirty="0"/>
            </a:br>
            <a:r>
              <a:rPr lang="en-US" dirty="0"/>
              <a:t>6 5 10 12 11</a:t>
            </a:r>
            <a:br>
              <a:rPr lang="en-US" dirty="0"/>
            </a:br>
            <a:r>
              <a:rPr lang="en-US" dirty="0"/>
              <a:t>3 6 15 11 12</a:t>
            </a:r>
            <a:br>
              <a:rPr lang="en-US" dirty="0"/>
            </a:br>
            <a:r>
              <a:rPr lang="en-US" dirty="0"/>
              <a:t>1 4 9 13 10</a:t>
            </a:r>
          </a:p>
          <a:p>
            <a:pPr marL="0" indent="0">
              <a:buNone/>
            </a:pPr>
            <a:endParaRPr lang="en-US" dirty="0"/>
          </a:p>
          <a:p>
            <a:pPr marL="0" indent="0">
              <a:buNone/>
            </a:pPr>
            <a:r>
              <a:rPr lang="en-US" dirty="0"/>
              <a:t>python3 </a:t>
            </a:r>
            <a:r>
              <a:rPr lang="en-US" dirty="0" err="1"/>
              <a:t>ski.py</a:t>
            </a:r>
            <a:r>
              <a:rPr lang="en-US" dirty="0"/>
              <a:t> &lt; ski-inputs/ski_input1.txt </a:t>
            </a:r>
          </a:p>
          <a:p>
            <a:pPr marL="0" indent="0">
              <a:buNone/>
            </a:pPr>
            <a:r>
              <a:rPr lang="en-US" dirty="0"/>
              <a:t>9</a:t>
            </a:r>
          </a:p>
        </p:txBody>
      </p:sp>
    </p:spTree>
    <p:extLst>
      <p:ext uri="{BB962C8B-B14F-4D97-AF65-F5344CB8AC3E}">
        <p14:creationId xmlns:p14="http://schemas.microsoft.com/office/powerpoint/2010/main" val="4841457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520</TotalTime>
  <Words>1119</Words>
  <Application>Microsoft Macintosh PowerPoint</Application>
  <PresentationFormat>Widescreen</PresentationFormat>
  <Paragraphs>93</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Problem 1 (50 points) Dam Breaking</vt:lpstr>
      <vt:lpstr>Problem 1 (50 points) Dam Breaking</vt:lpstr>
      <vt:lpstr>Problem 1 (50 points) Dam Breaking</vt:lpstr>
      <vt:lpstr>Problem 1 (50 points) Dam Breaking</vt:lpstr>
      <vt:lpstr>Problem 1 (50 points) Dam Breaking</vt:lpstr>
      <vt:lpstr>Problem 1 (50 points) Dam Breaking</vt:lpstr>
      <vt:lpstr>Problem 2 (50 points) Downhill Skier</vt:lpstr>
      <vt:lpstr>Problem 2 (50 points) Downhill Skier</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Introduce Yourself</dc:title>
  <dc:creator>David Mellor</dc:creator>
  <cp:lastModifiedBy>David Mellor</cp:lastModifiedBy>
  <cp:revision>55</cp:revision>
  <dcterms:created xsi:type="dcterms:W3CDTF">2024-08-26T20:23:57Z</dcterms:created>
  <dcterms:modified xsi:type="dcterms:W3CDTF">2025-11-30T15:24:46Z</dcterms:modified>
</cp:coreProperties>
</file>