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92" r:id="rId2"/>
    <p:sldId id="293" r:id="rId3"/>
    <p:sldId id="296" r:id="rId4"/>
    <p:sldId id="291" r:id="rId5"/>
    <p:sldId id="294" r:id="rId6"/>
    <p:sldId id="297"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276"/>
    <p:restoredTop sz="96405"/>
  </p:normalViewPr>
  <p:slideViewPr>
    <p:cSldViewPr snapToGrid="0" snapToObjects="1">
      <p:cViewPr varScale="1">
        <p:scale>
          <a:sx n="131" d="100"/>
          <a:sy n="131" d="100"/>
        </p:scale>
        <p:origin x="84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A5ECBB-B71C-BC43-8271-C53449D8EA9F}" type="datetimeFigureOut">
              <a:rPr lang="en-US" smtClean="0"/>
              <a:t>11/1/25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EF012D-48B4-A145-B00F-C255DB6D6A38}" type="slidenum">
              <a:rPr lang="en-US" smtClean="0"/>
              <a:t>‹#›</a:t>
            </a:fld>
            <a:endParaRPr lang="en-US"/>
          </a:p>
        </p:txBody>
      </p:sp>
    </p:spTree>
    <p:extLst>
      <p:ext uri="{BB962C8B-B14F-4D97-AF65-F5344CB8AC3E}">
        <p14:creationId xmlns:p14="http://schemas.microsoft.com/office/powerpoint/2010/main" val="609395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9CF314-6451-754D-AFE2-DAF956D03209}" type="slidenum">
              <a:rPr lang="en-US" smtClean="0"/>
              <a:t>1</a:t>
            </a:fld>
            <a:endParaRPr lang="en-US"/>
          </a:p>
        </p:txBody>
      </p:sp>
    </p:spTree>
    <p:extLst>
      <p:ext uri="{BB962C8B-B14F-4D97-AF65-F5344CB8AC3E}">
        <p14:creationId xmlns:p14="http://schemas.microsoft.com/office/powerpoint/2010/main" val="38766260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9CF314-6451-754D-AFE2-DAF956D03209}" type="slidenum">
              <a:rPr lang="en-US" smtClean="0"/>
              <a:t>2</a:t>
            </a:fld>
            <a:endParaRPr lang="en-US"/>
          </a:p>
        </p:txBody>
      </p:sp>
    </p:spTree>
    <p:extLst>
      <p:ext uri="{BB962C8B-B14F-4D97-AF65-F5344CB8AC3E}">
        <p14:creationId xmlns:p14="http://schemas.microsoft.com/office/powerpoint/2010/main" val="41922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9CF314-6451-754D-AFE2-DAF956D03209}" type="slidenum">
              <a:rPr lang="en-US" smtClean="0"/>
              <a:t>3</a:t>
            </a:fld>
            <a:endParaRPr lang="en-US"/>
          </a:p>
        </p:txBody>
      </p:sp>
    </p:spTree>
    <p:extLst>
      <p:ext uri="{BB962C8B-B14F-4D97-AF65-F5344CB8AC3E}">
        <p14:creationId xmlns:p14="http://schemas.microsoft.com/office/powerpoint/2010/main" val="38013017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9CF314-6451-754D-AFE2-DAF956D03209}" type="slidenum">
              <a:rPr lang="en-US" smtClean="0"/>
              <a:t>4</a:t>
            </a:fld>
            <a:endParaRPr lang="en-US"/>
          </a:p>
        </p:txBody>
      </p:sp>
    </p:spTree>
    <p:extLst>
      <p:ext uri="{BB962C8B-B14F-4D97-AF65-F5344CB8AC3E}">
        <p14:creationId xmlns:p14="http://schemas.microsoft.com/office/powerpoint/2010/main" val="38846375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9CF314-6451-754D-AFE2-DAF956D03209}" type="slidenum">
              <a:rPr lang="en-US" smtClean="0"/>
              <a:t>5</a:t>
            </a:fld>
            <a:endParaRPr lang="en-US"/>
          </a:p>
        </p:txBody>
      </p:sp>
    </p:spTree>
    <p:extLst>
      <p:ext uri="{BB962C8B-B14F-4D97-AF65-F5344CB8AC3E}">
        <p14:creationId xmlns:p14="http://schemas.microsoft.com/office/powerpoint/2010/main" val="20323012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9CF314-6451-754D-AFE2-DAF956D03209}" type="slidenum">
              <a:rPr lang="en-US" smtClean="0"/>
              <a:t>6</a:t>
            </a:fld>
            <a:endParaRPr lang="en-US"/>
          </a:p>
        </p:txBody>
      </p:sp>
    </p:spTree>
    <p:extLst>
      <p:ext uri="{BB962C8B-B14F-4D97-AF65-F5344CB8AC3E}">
        <p14:creationId xmlns:p14="http://schemas.microsoft.com/office/powerpoint/2010/main" val="31950125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AC25D-F922-B746-9A70-DBEF767A6E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49A9F0E-6B26-C54B-BC8E-BE722E359E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5F29E97-2D20-B14F-8AF8-EA44C06608AA}"/>
              </a:ext>
            </a:extLst>
          </p:cNvPr>
          <p:cNvSpPr>
            <a:spLocks noGrp="1"/>
          </p:cNvSpPr>
          <p:nvPr>
            <p:ph type="dt" sz="half" idx="10"/>
          </p:nvPr>
        </p:nvSpPr>
        <p:spPr/>
        <p:txBody>
          <a:bodyPr/>
          <a:lstStyle/>
          <a:p>
            <a:fld id="{01FABE52-74C0-4449-A82E-4AEF794E8C4D}" type="datetimeFigureOut">
              <a:rPr lang="en-US" smtClean="0"/>
              <a:t>11/1/25</a:t>
            </a:fld>
            <a:endParaRPr lang="en-US"/>
          </a:p>
        </p:txBody>
      </p:sp>
      <p:sp>
        <p:nvSpPr>
          <p:cNvPr id="5" name="Footer Placeholder 4">
            <a:extLst>
              <a:ext uri="{FF2B5EF4-FFF2-40B4-BE49-F238E27FC236}">
                <a16:creationId xmlns:a16="http://schemas.microsoft.com/office/drawing/2014/main" id="{01DE68A4-436C-6B49-89C3-F106487DA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F01D27-D0DE-6143-AFDF-0F6F1FA15C38}"/>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9171066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15CE1-7A58-FE4D-8891-84828C80F7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561BFB-D804-624C-811A-C8DC29D9CBE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731F82-D3BC-A748-A249-319E1E27EA67}"/>
              </a:ext>
            </a:extLst>
          </p:cNvPr>
          <p:cNvSpPr>
            <a:spLocks noGrp="1"/>
          </p:cNvSpPr>
          <p:nvPr>
            <p:ph type="dt" sz="half" idx="10"/>
          </p:nvPr>
        </p:nvSpPr>
        <p:spPr/>
        <p:txBody>
          <a:bodyPr/>
          <a:lstStyle/>
          <a:p>
            <a:fld id="{01FABE52-74C0-4449-A82E-4AEF794E8C4D}" type="datetimeFigureOut">
              <a:rPr lang="en-US" smtClean="0"/>
              <a:t>11/1/25</a:t>
            </a:fld>
            <a:endParaRPr lang="en-US"/>
          </a:p>
        </p:txBody>
      </p:sp>
      <p:sp>
        <p:nvSpPr>
          <p:cNvPr id="5" name="Footer Placeholder 4">
            <a:extLst>
              <a:ext uri="{FF2B5EF4-FFF2-40B4-BE49-F238E27FC236}">
                <a16:creationId xmlns:a16="http://schemas.microsoft.com/office/drawing/2014/main" id="{25A04461-7F4C-B246-B27F-BBB531C664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17B88C-360C-5B41-8F98-5B289EC19755}"/>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3003449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CA93A-3DF0-C04E-9E7D-559E971431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BBE38E0-6B08-0445-92A0-D0CBAE6AE6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7A717C8-882E-8F48-9492-325A3874BB13}"/>
              </a:ext>
            </a:extLst>
          </p:cNvPr>
          <p:cNvSpPr>
            <a:spLocks noGrp="1"/>
          </p:cNvSpPr>
          <p:nvPr>
            <p:ph type="dt" sz="half" idx="10"/>
          </p:nvPr>
        </p:nvSpPr>
        <p:spPr/>
        <p:txBody>
          <a:bodyPr/>
          <a:lstStyle/>
          <a:p>
            <a:fld id="{01FABE52-74C0-4449-A82E-4AEF794E8C4D}" type="datetimeFigureOut">
              <a:rPr lang="en-US" smtClean="0"/>
              <a:t>11/1/25</a:t>
            </a:fld>
            <a:endParaRPr lang="en-US"/>
          </a:p>
        </p:txBody>
      </p:sp>
      <p:sp>
        <p:nvSpPr>
          <p:cNvPr id="5" name="Footer Placeholder 4">
            <a:extLst>
              <a:ext uri="{FF2B5EF4-FFF2-40B4-BE49-F238E27FC236}">
                <a16:creationId xmlns:a16="http://schemas.microsoft.com/office/drawing/2014/main" id="{E2CD0014-D531-154C-A897-E179ADC610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488E9D-1100-5F49-B977-EACA818B002E}"/>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4104796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DCF20-13F4-C148-A70D-23E4FC2105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DAFA08-B828-C74E-A990-38983A22F5E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8DBD4F-6203-E648-87B4-D673D6E4D0B8}"/>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858B72B-507A-5A4E-B4D0-D98ED90F5AA1}"/>
              </a:ext>
            </a:extLst>
          </p:cNvPr>
          <p:cNvSpPr>
            <a:spLocks noGrp="1"/>
          </p:cNvSpPr>
          <p:nvPr>
            <p:ph type="dt" sz="half" idx="10"/>
          </p:nvPr>
        </p:nvSpPr>
        <p:spPr/>
        <p:txBody>
          <a:bodyPr/>
          <a:lstStyle/>
          <a:p>
            <a:fld id="{01FABE52-74C0-4449-A82E-4AEF794E8C4D}" type="datetimeFigureOut">
              <a:rPr lang="en-US" smtClean="0"/>
              <a:t>11/1/25</a:t>
            </a:fld>
            <a:endParaRPr lang="en-US"/>
          </a:p>
        </p:txBody>
      </p:sp>
      <p:sp>
        <p:nvSpPr>
          <p:cNvPr id="6" name="Footer Placeholder 5">
            <a:extLst>
              <a:ext uri="{FF2B5EF4-FFF2-40B4-BE49-F238E27FC236}">
                <a16:creationId xmlns:a16="http://schemas.microsoft.com/office/drawing/2014/main" id="{47A675CC-9E7E-4E42-8511-94F50FB428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395513-DBCF-0D49-A283-CF3CB8BCBF96}"/>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3160529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3DE97-69CE-2545-B2B4-DB80B8E0E27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D9329B-548C-3340-ADF1-E0BE1A0A81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B8BA96D-6B97-8B47-A39F-E4C24480E6B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BE0CB88-257B-CD4C-92FA-48937E0F24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07B3324-CF0A-4145-960F-C8E58BAB2EC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DE9CC07-1626-AB4C-B093-120035061866}"/>
              </a:ext>
            </a:extLst>
          </p:cNvPr>
          <p:cNvSpPr>
            <a:spLocks noGrp="1"/>
          </p:cNvSpPr>
          <p:nvPr>
            <p:ph type="dt" sz="half" idx="10"/>
          </p:nvPr>
        </p:nvSpPr>
        <p:spPr/>
        <p:txBody>
          <a:bodyPr/>
          <a:lstStyle/>
          <a:p>
            <a:fld id="{01FABE52-74C0-4449-A82E-4AEF794E8C4D}" type="datetimeFigureOut">
              <a:rPr lang="en-US" smtClean="0"/>
              <a:t>11/1/25</a:t>
            </a:fld>
            <a:endParaRPr lang="en-US"/>
          </a:p>
        </p:txBody>
      </p:sp>
      <p:sp>
        <p:nvSpPr>
          <p:cNvPr id="8" name="Footer Placeholder 7">
            <a:extLst>
              <a:ext uri="{FF2B5EF4-FFF2-40B4-BE49-F238E27FC236}">
                <a16:creationId xmlns:a16="http://schemas.microsoft.com/office/drawing/2014/main" id="{F3FD3B8F-5340-D44A-992B-D3A6DDCC522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D3F4F7-033F-6F46-8CD8-64C7EFEC81CD}"/>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29575786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E7B13-AE27-2D48-B861-E5058C25B5C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2DE5DEF-2FC9-6349-9E8F-E658ED88C6BA}"/>
              </a:ext>
            </a:extLst>
          </p:cNvPr>
          <p:cNvSpPr>
            <a:spLocks noGrp="1"/>
          </p:cNvSpPr>
          <p:nvPr>
            <p:ph type="dt" sz="half" idx="10"/>
          </p:nvPr>
        </p:nvSpPr>
        <p:spPr/>
        <p:txBody>
          <a:bodyPr/>
          <a:lstStyle/>
          <a:p>
            <a:fld id="{01FABE52-74C0-4449-A82E-4AEF794E8C4D}" type="datetimeFigureOut">
              <a:rPr lang="en-US" smtClean="0"/>
              <a:t>11/1/25</a:t>
            </a:fld>
            <a:endParaRPr lang="en-US"/>
          </a:p>
        </p:txBody>
      </p:sp>
      <p:sp>
        <p:nvSpPr>
          <p:cNvPr id="4" name="Footer Placeholder 3">
            <a:extLst>
              <a:ext uri="{FF2B5EF4-FFF2-40B4-BE49-F238E27FC236}">
                <a16:creationId xmlns:a16="http://schemas.microsoft.com/office/drawing/2014/main" id="{8EAC2F9B-967A-7F40-ABD9-8DD06401689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5BFEBB8-029C-AA4D-9D60-3FE74AB8D240}"/>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2167296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AA307E-E65E-F94F-A421-6665454CCC80}"/>
              </a:ext>
            </a:extLst>
          </p:cNvPr>
          <p:cNvSpPr>
            <a:spLocks noGrp="1"/>
          </p:cNvSpPr>
          <p:nvPr>
            <p:ph type="dt" sz="half" idx="10"/>
          </p:nvPr>
        </p:nvSpPr>
        <p:spPr/>
        <p:txBody>
          <a:bodyPr/>
          <a:lstStyle/>
          <a:p>
            <a:fld id="{01FABE52-74C0-4449-A82E-4AEF794E8C4D}" type="datetimeFigureOut">
              <a:rPr lang="en-US" smtClean="0"/>
              <a:t>11/1/25</a:t>
            </a:fld>
            <a:endParaRPr lang="en-US"/>
          </a:p>
        </p:txBody>
      </p:sp>
      <p:sp>
        <p:nvSpPr>
          <p:cNvPr id="3" name="Footer Placeholder 2">
            <a:extLst>
              <a:ext uri="{FF2B5EF4-FFF2-40B4-BE49-F238E27FC236}">
                <a16:creationId xmlns:a16="http://schemas.microsoft.com/office/drawing/2014/main" id="{978CDDDE-D1F5-3445-9E02-EF225AF2CA6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5FDDC12-6510-6744-AB1F-FF301C99B4F1}"/>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21555361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618E0-5F75-094F-AF8D-83675CD5DC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81ACEEF-84D8-1C4E-8109-011D32D363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9FDE188-A5DF-A045-9DA4-8C32FDC7EA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76CF674-B7F1-884A-BD43-0DDFE68C4573}"/>
              </a:ext>
            </a:extLst>
          </p:cNvPr>
          <p:cNvSpPr>
            <a:spLocks noGrp="1"/>
          </p:cNvSpPr>
          <p:nvPr>
            <p:ph type="dt" sz="half" idx="10"/>
          </p:nvPr>
        </p:nvSpPr>
        <p:spPr/>
        <p:txBody>
          <a:bodyPr/>
          <a:lstStyle/>
          <a:p>
            <a:fld id="{01FABE52-74C0-4449-A82E-4AEF794E8C4D}" type="datetimeFigureOut">
              <a:rPr lang="en-US" smtClean="0"/>
              <a:t>11/1/25</a:t>
            </a:fld>
            <a:endParaRPr lang="en-US"/>
          </a:p>
        </p:txBody>
      </p:sp>
      <p:sp>
        <p:nvSpPr>
          <p:cNvPr id="6" name="Footer Placeholder 5">
            <a:extLst>
              <a:ext uri="{FF2B5EF4-FFF2-40B4-BE49-F238E27FC236}">
                <a16:creationId xmlns:a16="http://schemas.microsoft.com/office/drawing/2014/main" id="{2A79DB32-51AB-5841-A50A-90B3EF147D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625F05-C4B2-4845-8455-EE102D2D1840}"/>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22083609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1039C-487E-634C-B3C9-1FB0B09CFE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1284271-D343-6746-BA5C-DD13D538B7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AA8663B-2732-AF4D-926E-2392B731D9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141064F-BB2C-5A4B-B14F-86F8B4DB6943}"/>
              </a:ext>
            </a:extLst>
          </p:cNvPr>
          <p:cNvSpPr>
            <a:spLocks noGrp="1"/>
          </p:cNvSpPr>
          <p:nvPr>
            <p:ph type="dt" sz="half" idx="10"/>
          </p:nvPr>
        </p:nvSpPr>
        <p:spPr/>
        <p:txBody>
          <a:bodyPr/>
          <a:lstStyle/>
          <a:p>
            <a:fld id="{01FABE52-74C0-4449-A82E-4AEF794E8C4D}" type="datetimeFigureOut">
              <a:rPr lang="en-US" smtClean="0"/>
              <a:t>11/1/25</a:t>
            </a:fld>
            <a:endParaRPr lang="en-US"/>
          </a:p>
        </p:txBody>
      </p:sp>
      <p:sp>
        <p:nvSpPr>
          <p:cNvPr id="6" name="Footer Placeholder 5">
            <a:extLst>
              <a:ext uri="{FF2B5EF4-FFF2-40B4-BE49-F238E27FC236}">
                <a16:creationId xmlns:a16="http://schemas.microsoft.com/office/drawing/2014/main" id="{629D46D5-BC1C-EF48-9BBE-0B18B33093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4B75F1-EC0A-A94D-A279-311A77A8A921}"/>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6041406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5A963-A2B8-6A4F-B8A1-B917AAD1711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EF11B0-E08B-1945-8643-AE2DC7A8426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C2C47E-63C5-8343-8DD2-FC4C99E7B69D}"/>
              </a:ext>
            </a:extLst>
          </p:cNvPr>
          <p:cNvSpPr>
            <a:spLocks noGrp="1"/>
          </p:cNvSpPr>
          <p:nvPr>
            <p:ph type="dt" sz="half" idx="10"/>
          </p:nvPr>
        </p:nvSpPr>
        <p:spPr/>
        <p:txBody>
          <a:bodyPr/>
          <a:lstStyle/>
          <a:p>
            <a:fld id="{01FABE52-74C0-4449-A82E-4AEF794E8C4D}" type="datetimeFigureOut">
              <a:rPr lang="en-US" smtClean="0"/>
              <a:t>11/1/25</a:t>
            </a:fld>
            <a:endParaRPr lang="en-US"/>
          </a:p>
        </p:txBody>
      </p:sp>
      <p:sp>
        <p:nvSpPr>
          <p:cNvPr id="5" name="Footer Placeholder 4">
            <a:extLst>
              <a:ext uri="{FF2B5EF4-FFF2-40B4-BE49-F238E27FC236}">
                <a16:creationId xmlns:a16="http://schemas.microsoft.com/office/drawing/2014/main" id="{7F3B18C6-45B0-4F40-882E-41C0DAD077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2B5436-A954-B14B-9DAD-0952CF4612D9}"/>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3895408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7063F4-710B-404B-A173-82A1DC0D2D0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9B04CB7-1D9E-DA43-8FC7-5FACA39CFCC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0DF71A-FF66-FB4A-B299-821D748C76C7}"/>
              </a:ext>
            </a:extLst>
          </p:cNvPr>
          <p:cNvSpPr>
            <a:spLocks noGrp="1"/>
          </p:cNvSpPr>
          <p:nvPr>
            <p:ph type="dt" sz="half" idx="10"/>
          </p:nvPr>
        </p:nvSpPr>
        <p:spPr/>
        <p:txBody>
          <a:bodyPr/>
          <a:lstStyle/>
          <a:p>
            <a:fld id="{01FABE52-74C0-4449-A82E-4AEF794E8C4D}" type="datetimeFigureOut">
              <a:rPr lang="en-US" smtClean="0"/>
              <a:t>11/1/25</a:t>
            </a:fld>
            <a:endParaRPr lang="en-US"/>
          </a:p>
        </p:txBody>
      </p:sp>
      <p:sp>
        <p:nvSpPr>
          <p:cNvPr id="5" name="Footer Placeholder 4">
            <a:extLst>
              <a:ext uri="{FF2B5EF4-FFF2-40B4-BE49-F238E27FC236}">
                <a16:creationId xmlns:a16="http://schemas.microsoft.com/office/drawing/2014/main" id="{B33D2F75-65A5-F643-9E5D-56A13B3474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300F60-A372-824A-9A29-33446CFCFA2C}"/>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28710816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A49120-51F5-3641-B5DF-4B59CCE54F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5D347A-047F-2546-8802-2D1E5E29F7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8F7234-20C3-9D42-94C2-7EE9FBE8FB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FABE52-74C0-4449-A82E-4AEF794E8C4D}" type="datetimeFigureOut">
              <a:rPr lang="en-US" smtClean="0"/>
              <a:t>11/1/25</a:t>
            </a:fld>
            <a:endParaRPr lang="en-US"/>
          </a:p>
        </p:txBody>
      </p:sp>
      <p:sp>
        <p:nvSpPr>
          <p:cNvPr id="5" name="Footer Placeholder 4">
            <a:extLst>
              <a:ext uri="{FF2B5EF4-FFF2-40B4-BE49-F238E27FC236}">
                <a16:creationId xmlns:a16="http://schemas.microsoft.com/office/drawing/2014/main" id="{741B583E-1770-5A4E-830D-D11CFA81C8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0C1A04A-FB1B-EA43-9566-3C09BB1E34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84ABFF-D714-5E4C-8409-CF24B028649F}" type="slidenum">
              <a:rPr lang="en-US" smtClean="0"/>
              <a:t>‹#›</a:t>
            </a:fld>
            <a:endParaRPr lang="en-US"/>
          </a:p>
        </p:txBody>
      </p:sp>
    </p:spTree>
    <p:extLst>
      <p:ext uri="{BB962C8B-B14F-4D97-AF65-F5344CB8AC3E}">
        <p14:creationId xmlns:p14="http://schemas.microsoft.com/office/powerpoint/2010/main" val="39605162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BDEA-2B9D-B840-809F-2653FC5DF999}"/>
              </a:ext>
            </a:extLst>
          </p:cNvPr>
          <p:cNvSpPr>
            <a:spLocks noGrp="1"/>
          </p:cNvSpPr>
          <p:nvPr>
            <p:ph type="title"/>
          </p:nvPr>
        </p:nvSpPr>
        <p:spPr>
          <a:xfrm>
            <a:off x="0" y="678094"/>
            <a:ext cx="12192000" cy="934949"/>
          </a:xfrm>
          <a:solidFill>
            <a:schemeClr val="accent2">
              <a:lumMod val="20000"/>
              <a:lumOff val="80000"/>
            </a:schemeClr>
          </a:solidFill>
        </p:spPr>
        <p:txBody>
          <a:bodyPr/>
          <a:lstStyle/>
          <a:p>
            <a:r>
              <a:rPr lang="en-US" b="1" dirty="0"/>
              <a:t>Problem 1 (20 points)</a:t>
            </a:r>
          </a:p>
        </p:txBody>
      </p:sp>
      <p:sp>
        <p:nvSpPr>
          <p:cNvPr id="5" name="Rectangle 4">
            <a:extLst>
              <a:ext uri="{FF2B5EF4-FFF2-40B4-BE49-F238E27FC236}">
                <a16:creationId xmlns:a16="http://schemas.microsoft.com/office/drawing/2014/main" id="{958934F1-EFDA-3042-B8D1-1627EF63AA28}"/>
              </a:ext>
            </a:extLst>
          </p:cNvPr>
          <p:cNvSpPr/>
          <p:nvPr/>
        </p:nvSpPr>
        <p:spPr>
          <a:xfrm>
            <a:off x="0" y="0"/>
            <a:ext cx="12192000" cy="6780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CS526  Homework Assignment 5</a:t>
            </a:r>
          </a:p>
        </p:txBody>
      </p:sp>
      <p:sp>
        <p:nvSpPr>
          <p:cNvPr id="6" name="Footer Placeholder 5">
            <a:extLst>
              <a:ext uri="{FF2B5EF4-FFF2-40B4-BE49-F238E27FC236}">
                <a16:creationId xmlns:a16="http://schemas.microsoft.com/office/drawing/2014/main" id="{5B12AFAF-307E-C046-A210-B750151EF6F1}"/>
              </a:ext>
            </a:extLst>
          </p:cNvPr>
          <p:cNvSpPr>
            <a:spLocks noGrp="1"/>
          </p:cNvSpPr>
          <p:nvPr>
            <p:ph type="ftr" sz="quarter" idx="11"/>
          </p:nvPr>
        </p:nvSpPr>
        <p:spPr/>
        <p:txBody>
          <a:bodyPr/>
          <a:lstStyle/>
          <a:p>
            <a:r>
              <a:rPr lang="en-US"/>
              <a:t>Boston University Metropolitan College</a:t>
            </a:r>
          </a:p>
        </p:txBody>
      </p:sp>
      <p:sp>
        <p:nvSpPr>
          <p:cNvPr id="7" name="Slide Number Placeholder 6">
            <a:extLst>
              <a:ext uri="{FF2B5EF4-FFF2-40B4-BE49-F238E27FC236}">
                <a16:creationId xmlns:a16="http://schemas.microsoft.com/office/drawing/2014/main" id="{37980371-C631-6347-9CDD-6C6B37EC7D7D}"/>
              </a:ext>
            </a:extLst>
          </p:cNvPr>
          <p:cNvSpPr>
            <a:spLocks noGrp="1"/>
          </p:cNvSpPr>
          <p:nvPr>
            <p:ph type="sldNum" sz="quarter" idx="12"/>
          </p:nvPr>
        </p:nvSpPr>
        <p:spPr/>
        <p:txBody>
          <a:bodyPr/>
          <a:lstStyle/>
          <a:p>
            <a:fld id="{F0E4876E-C529-7042-8A86-14EE2C2A0384}" type="slidenum">
              <a:rPr lang="en-US" smtClean="0"/>
              <a:t>1</a:t>
            </a:fld>
            <a:endParaRPr lang="en-US"/>
          </a:p>
        </p:txBody>
      </p:sp>
      <p:sp>
        <p:nvSpPr>
          <p:cNvPr id="20" name="Content Placeholder 2">
            <a:extLst>
              <a:ext uri="{FF2B5EF4-FFF2-40B4-BE49-F238E27FC236}">
                <a16:creationId xmlns:a16="http://schemas.microsoft.com/office/drawing/2014/main" id="{DE583E3C-EE0D-E648-90CF-E0827356DCE9}"/>
              </a:ext>
            </a:extLst>
          </p:cNvPr>
          <p:cNvSpPr>
            <a:spLocks noGrp="1"/>
          </p:cNvSpPr>
          <p:nvPr>
            <p:ph sz="half" idx="1"/>
          </p:nvPr>
        </p:nvSpPr>
        <p:spPr>
          <a:xfrm>
            <a:off x="-1" y="1524000"/>
            <a:ext cx="12192001" cy="4832350"/>
          </a:xfrm>
          <a:solidFill>
            <a:schemeClr val="accent2">
              <a:lumMod val="20000"/>
              <a:lumOff val="80000"/>
            </a:schemeClr>
          </a:solidFill>
        </p:spPr>
        <p:txBody>
          <a:bodyPr>
            <a:normAutofit/>
          </a:bodyPr>
          <a:lstStyle/>
          <a:p>
            <a:pPr lvl="1"/>
            <a:endParaRPr lang="en-US" sz="700" dirty="0"/>
          </a:p>
          <a:p>
            <a:pPr marL="0" indent="0">
              <a:buNone/>
            </a:pPr>
            <a:r>
              <a:rPr lang="en-US" sz="1800" dirty="0"/>
              <a:t>Implement a binary search tree </a:t>
            </a:r>
          </a:p>
          <a:p>
            <a:pPr marL="0" indent="0">
              <a:buNone/>
            </a:pPr>
            <a:r>
              <a:rPr lang="en-US" sz="1800" dirty="0"/>
              <a:t>Create an ADT for a Node</a:t>
            </a:r>
          </a:p>
          <a:p>
            <a:pPr marL="0" indent="0">
              <a:buNone/>
            </a:pPr>
            <a:r>
              <a:rPr lang="en-US" sz="1800" dirty="0"/>
              <a:t>Create an ADT for a BST with the following functions:</a:t>
            </a:r>
          </a:p>
          <a:p>
            <a:pPr lvl="1"/>
            <a:r>
              <a:rPr lang="en-US" sz="1400" dirty="0"/>
              <a:t>Add Node(Value)</a:t>
            </a:r>
          </a:p>
          <a:p>
            <a:pPr lvl="1"/>
            <a:r>
              <a:rPr lang="en-US" sz="1400" dirty="0"/>
              <a:t>Delete Node(Value)</a:t>
            </a:r>
          </a:p>
          <a:p>
            <a:pPr lvl="1"/>
            <a:r>
              <a:rPr lang="en-US" sz="1400" dirty="0" err="1"/>
              <a:t>FindNode</a:t>
            </a:r>
            <a:r>
              <a:rPr lang="en-US" sz="1400" dirty="0"/>
              <a:t>(Value)</a:t>
            </a:r>
          </a:p>
          <a:p>
            <a:pPr lvl="1"/>
            <a:r>
              <a:rPr lang="en-US" sz="1400" dirty="0" err="1"/>
              <a:t>PrintTree</a:t>
            </a:r>
            <a:r>
              <a:rPr lang="en-US" sz="1400" dirty="0"/>
              <a:t>()</a:t>
            </a:r>
          </a:p>
          <a:p>
            <a:pPr lvl="1"/>
            <a:endParaRPr lang="en-US" sz="1400" dirty="0"/>
          </a:p>
          <a:p>
            <a:pPr marL="0" indent="0">
              <a:buNone/>
            </a:pPr>
            <a:r>
              <a:rPr lang="en-US" sz="1800" dirty="0"/>
              <a:t>Demonstrate you code by randomly generating an input set of size 5 to 50 for numbers between 1 and 1000</a:t>
            </a:r>
          </a:p>
          <a:p>
            <a:pPr marL="0" indent="0">
              <a:buNone/>
            </a:pPr>
            <a:r>
              <a:rPr lang="en-US" sz="1800" dirty="0"/>
              <a:t>You must print out your input set, your initial tree and then exercise your methods add and delete printing your tree after every method invocation. You must also exercise your </a:t>
            </a:r>
            <a:r>
              <a:rPr lang="en-US" sz="1800" dirty="0" err="1"/>
              <a:t>findNode</a:t>
            </a:r>
            <a:r>
              <a:rPr lang="en-US" sz="1800" dirty="0"/>
              <a:t> method by randomly generating a number between 1 and 1000 and printing whether or not you found the node, you must have both positive and negative cases.</a:t>
            </a:r>
          </a:p>
          <a:p>
            <a:pPr marL="0" indent="0">
              <a:buNone/>
            </a:pPr>
            <a:r>
              <a:rPr lang="en-US" sz="1800" dirty="0"/>
              <a:t>You should submit a </a:t>
            </a:r>
            <a:r>
              <a:rPr lang="en-US" sz="1800" dirty="0" err="1"/>
              <a:t>readme.txt</a:t>
            </a:r>
            <a:r>
              <a:rPr lang="en-US" sz="1800" dirty="0"/>
              <a:t> file with an explanation of your code and algorithms. You must provide exact instructions on how to run your code and you must submit screen shots of your running code.</a:t>
            </a:r>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p:txBody>
      </p:sp>
    </p:spTree>
    <p:extLst>
      <p:ext uri="{BB962C8B-B14F-4D97-AF65-F5344CB8AC3E}">
        <p14:creationId xmlns:p14="http://schemas.microsoft.com/office/powerpoint/2010/main" val="257190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BDEA-2B9D-B840-809F-2653FC5DF999}"/>
              </a:ext>
            </a:extLst>
          </p:cNvPr>
          <p:cNvSpPr>
            <a:spLocks noGrp="1"/>
          </p:cNvSpPr>
          <p:nvPr>
            <p:ph type="title"/>
          </p:nvPr>
        </p:nvSpPr>
        <p:spPr>
          <a:xfrm>
            <a:off x="0" y="678094"/>
            <a:ext cx="12192000" cy="934949"/>
          </a:xfrm>
          <a:solidFill>
            <a:schemeClr val="accent2">
              <a:lumMod val="20000"/>
              <a:lumOff val="80000"/>
            </a:schemeClr>
          </a:solidFill>
        </p:spPr>
        <p:txBody>
          <a:bodyPr>
            <a:normAutofit fontScale="90000"/>
          </a:bodyPr>
          <a:lstStyle/>
          <a:p>
            <a:r>
              <a:rPr lang="en-US" b="1" dirty="0"/>
              <a:t>Problem 2 (30 points) Implement from Class Discussion</a:t>
            </a:r>
          </a:p>
        </p:txBody>
      </p:sp>
      <p:sp>
        <p:nvSpPr>
          <p:cNvPr id="5" name="Rectangle 4">
            <a:extLst>
              <a:ext uri="{FF2B5EF4-FFF2-40B4-BE49-F238E27FC236}">
                <a16:creationId xmlns:a16="http://schemas.microsoft.com/office/drawing/2014/main" id="{958934F1-EFDA-3042-B8D1-1627EF63AA28}"/>
              </a:ext>
            </a:extLst>
          </p:cNvPr>
          <p:cNvSpPr/>
          <p:nvPr/>
        </p:nvSpPr>
        <p:spPr>
          <a:xfrm>
            <a:off x="0" y="0"/>
            <a:ext cx="12192000" cy="6780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CS526  Homework Assignment 5</a:t>
            </a:r>
          </a:p>
        </p:txBody>
      </p:sp>
      <p:sp>
        <p:nvSpPr>
          <p:cNvPr id="6" name="Footer Placeholder 5">
            <a:extLst>
              <a:ext uri="{FF2B5EF4-FFF2-40B4-BE49-F238E27FC236}">
                <a16:creationId xmlns:a16="http://schemas.microsoft.com/office/drawing/2014/main" id="{5B12AFAF-307E-C046-A210-B750151EF6F1}"/>
              </a:ext>
            </a:extLst>
          </p:cNvPr>
          <p:cNvSpPr>
            <a:spLocks noGrp="1"/>
          </p:cNvSpPr>
          <p:nvPr>
            <p:ph type="ftr" sz="quarter" idx="11"/>
          </p:nvPr>
        </p:nvSpPr>
        <p:spPr/>
        <p:txBody>
          <a:bodyPr/>
          <a:lstStyle/>
          <a:p>
            <a:r>
              <a:rPr lang="en-US"/>
              <a:t>Boston University Metropolitan College</a:t>
            </a:r>
          </a:p>
        </p:txBody>
      </p:sp>
      <p:sp>
        <p:nvSpPr>
          <p:cNvPr id="7" name="Slide Number Placeholder 6">
            <a:extLst>
              <a:ext uri="{FF2B5EF4-FFF2-40B4-BE49-F238E27FC236}">
                <a16:creationId xmlns:a16="http://schemas.microsoft.com/office/drawing/2014/main" id="{37980371-C631-6347-9CDD-6C6B37EC7D7D}"/>
              </a:ext>
            </a:extLst>
          </p:cNvPr>
          <p:cNvSpPr>
            <a:spLocks noGrp="1"/>
          </p:cNvSpPr>
          <p:nvPr>
            <p:ph type="sldNum" sz="quarter" idx="12"/>
          </p:nvPr>
        </p:nvSpPr>
        <p:spPr/>
        <p:txBody>
          <a:bodyPr/>
          <a:lstStyle/>
          <a:p>
            <a:fld id="{F0E4876E-C529-7042-8A86-14EE2C2A0384}" type="slidenum">
              <a:rPr lang="en-US" smtClean="0"/>
              <a:t>2</a:t>
            </a:fld>
            <a:endParaRPr lang="en-US"/>
          </a:p>
        </p:txBody>
      </p:sp>
      <p:sp>
        <p:nvSpPr>
          <p:cNvPr id="20" name="Content Placeholder 2">
            <a:extLst>
              <a:ext uri="{FF2B5EF4-FFF2-40B4-BE49-F238E27FC236}">
                <a16:creationId xmlns:a16="http://schemas.microsoft.com/office/drawing/2014/main" id="{DE583E3C-EE0D-E648-90CF-E0827356DCE9}"/>
              </a:ext>
            </a:extLst>
          </p:cNvPr>
          <p:cNvSpPr>
            <a:spLocks noGrp="1"/>
          </p:cNvSpPr>
          <p:nvPr>
            <p:ph sz="half" idx="1"/>
          </p:nvPr>
        </p:nvSpPr>
        <p:spPr>
          <a:xfrm>
            <a:off x="0" y="1356187"/>
            <a:ext cx="12192000" cy="5083523"/>
          </a:xfrm>
          <a:solidFill>
            <a:schemeClr val="accent2">
              <a:lumMod val="20000"/>
              <a:lumOff val="80000"/>
            </a:schemeClr>
          </a:solidFill>
        </p:spPr>
        <p:txBody>
          <a:bodyPr>
            <a:normAutofit fontScale="92500" lnSpcReduction="10000"/>
          </a:bodyPr>
          <a:lstStyle/>
          <a:p>
            <a:pPr lvl="1"/>
            <a:endParaRPr lang="en-US" sz="700" dirty="0"/>
          </a:p>
          <a:p>
            <a:pPr marL="0" indent="0">
              <a:buNone/>
            </a:pPr>
            <a:r>
              <a:rPr lang="en-US" dirty="0"/>
              <a:t>Given is a sequence of n symbols, each of which is either a dot (.) or a dash (-). This can represent a sequence of letters in Morse code. However, since the separation between letters is not given, it can represent a number of different sequences. For example, . - - could represent ETT, AT, EM, or W. </a:t>
            </a:r>
            <a:endParaRPr lang="en-US" sz="1800" dirty="0"/>
          </a:p>
          <a:p>
            <a:pPr marL="0" indent="0">
              <a:buNone/>
            </a:pPr>
            <a:r>
              <a:rPr lang="en-US" dirty="0"/>
              <a:t>Design an algorithm that computes the number of possible letter sequences containing only vowels (A,E,I,O,U) that can be derived from a given input sequence of dots and dashes of length n.</a:t>
            </a:r>
          </a:p>
          <a:p>
            <a:pPr marL="0" indent="0">
              <a:buNone/>
            </a:pPr>
            <a:endParaRPr lang="en-US" sz="1800" dirty="0"/>
          </a:p>
          <a:p>
            <a:pPr marL="0" indent="0">
              <a:buNone/>
            </a:pPr>
            <a:r>
              <a:rPr lang="en-US" dirty="0"/>
              <a:t>You should submit a </a:t>
            </a:r>
            <a:r>
              <a:rPr lang="en-US" dirty="0" err="1"/>
              <a:t>readme.txt</a:t>
            </a:r>
            <a:r>
              <a:rPr lang="en-US" dirty="0"/>
              <a:t> file with an explanation of your code and algorithms. You must provide exact instructions on how to run your code and you must submit screen shots of your running code. Your code should print the following text:</a:t>
            </a:r>
          </a:p>
          <a:p>
            <a:pPr marL="457200" lvl="1" indent="0">
              <a:buNone/>
            </a:pPr>
            <a:r>
              <a:rPr lang="en-US" dirty="0"/>
              <a:t>File Input: </a:t>
            </a:r>
            <a:r>
              <a:rPr lang="en-US" dirty="0" err="1"/>
              <a:t>vowel_input</a:t>
            </a:r>
            <a:r>
              <a:rPr lang="en-US" dirty="0"/>
              <a:t>&lt;input file number&gt;.txt </a:t>
            </a:r>
          </a:p>
          <a:p>
            <a:pPr marL="457200" lvl="1" indent="0">
              <a:buNone/>
            </a:pPr>
            <a:r>
              <a:rPr lang="en-US" dirty="0"/>
              <a:t>The Number of Vowel combinations is:  &lt;the number of combinations you calculate&gt;</a:t>
            </a:r>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p:txBody>
      </p:sp>
    </p:spTree>
    <p:extLst>
      <p:ext uri="{BB962C8B-B14F-4D97-AF65-F5344CB8AC3E}">
        <p14:creationId xmlns:p14="http://schemas.microsoft.com/office/powerpoint/2010/main" val="15387688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BDEA-2B9D-B840-809F-2653FC5DF999}"/>
              </a:ext>
            </a:extLst>
          </p:cNvPr>
          <p:cNvSpPr>
            <a:spLocks noGrp="1"/>
          </p:cNvSpPr>
          <p:nvPr>
            <p:ph type="title"/>
          </p:nvPr>
        </p:nvSpPr>
        <p:spPr>
          <a:xfrm>
            <a:off x="0" y="678094"/>
            <a:ext cx="12192000" cy="934949"/>
          </a:xfrm>
          <a:solidFill>
            <a:schemeClr val="accent2">
              <a:lumMod val="20000"/>
              <a:lumOff val="80000"/>
            </a:schemeClr>
          </a:solidFill>
        </p:spPr>
        <p:txBody>
          <a:bodyPr/>
          <a:lstStyle/>
          <a:p>
            <a:r>
              <a:rPr lang="en-US" b="1" dirty="0"/>
              <a:t>Problem 2 (30 points) </a:t>
            </a:r>
            <a:r>
              <a:rPr lang="en-US" b="1" dirty="0" err="1"/>
              <a:t>con’t</a:t>
            </a:r>
            <a:endParaRPr lang="en-US" b="1" dirty="0"/>
          </a:p>
        </p:txBody>
      </p:sp>
      <p:sp>
        <p:nvSpPr>
          <p:cNvPr id="5" name="Rectangle 4">
            <a:extLst>
              <a:ext uri="{FF2B5EF4-FFF2-40B4-BE49-F238E27FC236}">
                <a16:creationId xmlns:a16="http://schemas.microsoft.com/office/drawing/2014/main" id="{958934F1-EFDA-3042-B8D1-1627EF63AA28}"/>
              </a:ext>
            </a:extLst>
          </p:cNvPr>
          <p:cNvSpPr/>
          <p:nvPr/>
        </p:nvSpPr>
        <p:spPr>
          <a:xfrm>
            <a:off x="0" y="0"/>
            <a:ext cx="12192000" cy="6780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CS526  Homework Assignment 5</a:t>
            </a:r>
          </a:p>
        </p:txBody>
      </p:sp>
      <p:sp>
        <p:nvSpPr>
          <p:cNvPr id="6" name="Footer Placeholder 5">
            <a:extLst>
              <a:ext uri="{FF2B5EF4-FFF2-40B4-BE49-F238E27FC236}">
                <a16:creationId xmlns:a16="http://schemas.microsoft.com/office/drawing/2014/main" id="{5B12AFAF-307E-C046-A210-B750151EF6F1}"/>
              </a:ext>
            </a:extLst>
          </p:cNvPr>
          <p:cNvSpPr>
            <a:spLocks noGrp="1"/>
          </p:cNvSpPr>
          <p:nvPr>
            <p:ph type="ftr" sz="quarter" idx="11"/>
          </p:nvPr>
        </p:nvSpPr>
        <p:spPr/>
        <p:txBody>
          <a:bodyPr/>
          <a:lstStyle/>
          <a:p>
            <a:r>
              <a:rPr lang="en-US"/>
              <a:t>Boston University Metropolitan College</a:t>
            </a:r>
          </a:p>
        </p:txBody>
      </p:sp>
      <p:sp>
        <p:nvSpPr>
          <p:cNvPr id="7" name="Slide Number Placeholder 6">
            <a:extLst>
              <a:ext uri="{FF2B5EF4-FFF2-40B4-BE49-F238E27FC236}">
                <a16:creationId xmlns:a16="http://schemas.microsoft.com/office/drawing/2014/main" id="{37980371-C631-6347-9CDD-6C6B37EC7D7D}"/>
              </a:ext>
            </a:extLst>
          </p:cNvPr>
          <p:cNvSpPr>
            <a:spLocks noGrp="1"/>
          </p:cNvSpPr>
          <p:nvPr>
            <p:ph type="sldNum" sz="quarter" idx="12"/>
          </p:nvPr>
        </p:nvSpPr>
        <p:spPr/>
        <p:txBody>
          <a:bodyPr/>
          <a:lstStyle/>
          <a:p>
            <a:fld id="{F0E4876E-C529-7042-8A86-14EE2C2A0384}" type="slidenum">
              <a:rPr lang="en-US" smtClean="0"/>
              <a:t>3</a:t>
            </a:fld>
            <a:endParaRPr lang="en-US"/>
          </a:p>
        </p:txBody>
      </p:sp>
      <p:sp>
        <p:nvSpPr>
          <p:cNvPr id="20" name="Content Placeholder 2">
            <a:extLst>
              <a:ext uri="{FF2B5EF4-FFF2-40B4-BE49-F238E27FC236}">
                <a16:creationId xmlns:a16="http://schemas.microsoft.com/office/drawing/2014/main" id="{DE583E3C-EE0D-E648-90CF-E0827356DCE9}"/>
              </a:ext>
            </a:extLst>
          </p:cNvPr>
          <p:cNvSpPr>
            <a:spLocks noGrp="1"/>
          </p:cNvSpPr>
          <p:nvPr>
            <p:ph sz="half" idx="1"/>
          </p:nvPr>
        </p:nvSpPr>
        <p:spPr>
          <a:xfrm>
            <a:off x="0" y="1356187"/>
            <a:ext cx="12192000" cy="5083523"/>
          </a:xfrm>
          <a:solidFill>
            <a:schemeClr val="accent2">
              <a:lumMod val="20000"/>
              <a:lumOff val="80000"/>
            </a:schemeClr>
          </a:solidFill>
        </p:spPr>
        <p:txBody>
          <a:bodyPr>
            <a:normAutofit/>
          </a:bodyPr>
          <a:lstStyle/>
          <a:p>
            <a:pPr lvl="1"/>
            <a:endParaRPr lang="en-US" sz="700" dirty="0"/>
          </a:p>
          <a:p>
            <a:pPr marL="0" indent="0">
              <a:buNone/>
            </a:pPr>
            <a:r>
              <a:rPr lang="en-US" sz="1800" dirty="0"/>
              <a:t>File Input: vowel_input1.txt </a:t>
            </a:r>
          </a:p>
          <a:p>
            <a:pPr marL="0" indent="0">
              <a:buNone/>
            </a:pPr>
            <a:r>
              <a:rPr lang="en-US" sz="1800" dirty="0"/>
              <a:t>The Number of Vowel combinations is:  6</a:t>
            </a:r>
          </a:p>
          <a:p>
            <a:pPr marL="0" indent="0">
              <a:buNone/>
            </a:pPr>
            <a:r>
              <a:rPr lang="en-US" sz="1800" dirty="0"/>
              <a:t>File Input: vowel_input2.txt </a:t>
            </a:r>
          </a:p>
          <a:p>
            <a:pPr marL="0" indent="0">
              <a:buNone/>
            </a:pPr>
            <a:r>
              <a:rPr lang="en-US" sz="1800" dirty="0"/>
              <a:t>The Number of Vowel combinations is:  8</a:t>
            </a:r>
          </a:p>
          <a:p>
            <a:pPr marL="0" indent="0">
              <a:buNone/>
            </a:pPr>
            <a:r>
              <a:rPr lang="en-US" sz="1800" dirty="0"/>
              <a:t>File Input: vowel_input3.txt </a:t>
            </a:r>
          </a:p>
          <a:p>
            <a:pPr marL="0" indent="0">
              <a:buNone/>
            </a:pPr>
            <a:r>
              <a:rPr lang="en-US" sz="1800" dirty="0"/>
              <a:t>The Number of Vowel combinations is:  0</a:t>
            </a:r>
          </a:p>
          <a:p>
            <a:pPr marL="0" indent="0">
              <a:buNone/>
            </a:pPr>
            <a:r>
              <a:rPr lang="en-US" sz="1800" dirty="0"/>
              <a:t>File Input: vowel_input4.txt </a:t>
            </a:r>
          </a:p>
          <a:p>
            <a:pPr marL="0" indent="0">
              <a:buNone/>
            </a:pPr>
            <a:r>
              <a:rPr lang="en-US" sz="1800" dirty="0"/>
              <a:t>The Number of Vowel combinations is:  193050000</a:t>
            </a:r>
          </a:p>
          <a:p>
            <a:pPr marL="0" indent="0">
              <a:buNone/>
            </a:pPr>
            <a:endParaRPr lang="en-US" sz="1800" dirty="0"/>
          </a:p>
          <a:p>
            <a:pPr marL="0" indent="0">
              <a:buNone/>
            </a:pPr>
            <a:endParaRPr lang="en-US" sz="1800" dirty="0"/>
          </a:p>
        </p:txBody>
      </p:sp>
    </p:spTree>
    <p:extLst>
      <p:ext uri="{BB962C8B-B14F-4D97-AF65-F5344CB8AC3E}">
        <p14:creationId xmlns:p14="http://schemas.microsoft.com/office/powerpoint/2010/main" val="3223898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BDEA-2B9D-B840-809F-2653FC5DF999}"/>
              </a:ext>
            </a:extLst>
          </p:cNvPr>
          <p:cNvSpPr>
            <a:spLocks noGrp="1"/>
          </p:cNvSpPr>
          <p:nvPr>
            <p:ph type="title"/>
          </p:nvPr>
        </p:nvSpPr>
        <p:spPr>
          <a:xfrm>
            <a:off x="0" y="678094"/>
            <a:ext cx="12192000" cy="934949"/>
          </a:xfrm>
          <a:solidFill>
            <a:schemeClr val="accent2">
              <a:lumMod val="20000"/>
              <a:lumOff val="80000"/>
            </a:schemeClr>
          </a:solidFill>
        </p:spPr>
        <p:txBody>
          <a:bodyPr/>
          <a:lstStyle/>
          <a:p>
            <a:r>
              <a:rPr lang="en-US" b="1" dirty="0"/>
              <a:t>Problem 3 (50 points)</a:t>
            </a:r>
          </a:p>
        </p:txBody>
      </p:sp>
      <p:sp>
        <p:nvSpPr>
          <p:cNvPr id="5" name="Rectangle 4">
            <a:extLst>
              <a:ext uri="{FF2B5EF4-FFF2-40B4-BE49-F238E27FC236}">
                <a16:creationId xmlns:a16="http://schemas.microsoft.com/office/drawing/2014/main" id="{958934F1-EFDA-3042-B8D1-1627EF63AA28}"/>
              </a:ext>
            </a:extLst>
          </p:cNvPr>
          <p:cNvSpPr/>
          <p:nvPr/>
        </p:nvSpPr>
        <p:spPr>
          <a:xfrm>
            <a:off x="0" y="0"/>
            <a:ext cx="12192000" cy="6780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CS526  Homework Assignment 5</a:t>
            </a:r>
          </a:p>
        </p:txBody>
      </p:sp>
      <p:sp>
        <p:nvSpPr>
          <p:cNvPr id="6" name="Footer Placeholder 5">
            <a:extLst>
              <a:ext uri="{FF2B5EF4-FFF2-40B4-BE49-F238E27FC236}">
                <a16:creationId xmlns:a16="http://schemas.microsoft.com/office/drawing/2014/main" id="{5B12AFAF-307E-C046-A210-B750151EF6F1}"/>
              </a:ext>
            </a:extLst>
          </p:cNvPr>
          <p:cNvSpPr>
            <a:spLocks noGrp="1"/>
          </p:cNvSpPr>
          <p:nvPr>
            <p:ph type="ftr" sz="quarter" idx="11"/>
          </p:nvPr>
        </p:nvSpPr>
        <p:spPr/>
        <p:txBody>
          <a:bodyPr/>
          <a:lstStyle/>
          <a:p>
            <a:r>
              <a:rPr lang="en-US"/>
              <a:t>Boston University Metropolitan College</a:t>
            </a:r>
          </a:p>
        </p:txBody>
      </p:sp>
      <p:sp>
        <p:nvSpPr>
          <p:cNvPr id="7" name="Slide Number Placeholder 6">
            <a:extLst>
              <a:ext uri="{FF2B5EF4-FFF2-40B4-BE49-F238E27FC236}">
                <a16:creationId xmlns:a16="http://schemas.microsoft.com/office/drawing/2014/main" id="{37980371-C631-6347-9CDD-6C6B37EC7D7D}"/>
              </a:ext>
            </a:extLst>
          </p:cNvPr>
          <p:cNvSpPr>
            <a:spLocks noGrp="1"/>
          </p:cNvSpPr>
          <p:nvPr>
            <p:ph type="sldNum" sz="quarter" idx="12"/>
          </p:nvPr>
        </p:nvSpPr>
        <p:spPr/>
        <p:txBody>
          <a:bodyPr/>
          <a:lstStyle/>
          <a:p>
            <a:fld id="{F0E4876E-C529-7042-8A86-14EE2C2A0384}" type="slidenum">
              <a:rPr lang="en-US" smtClean="0"/>
              <a:t>4</a:t>
            </a:fld>
            <a:endParaRPr lang="en-US"/>
          </a:p>
        </p:txBody>
      </p:sp>
      <p:sp>
        <p:nvSpPr>
          <p:cNvPr id="20" name="Content Placeholder 2">
            <a:extLst>
              <a:ext uri="{FF2B5EF4-FFF2-40B4-BE49-F238E27FC236}">
                <a16:creationId xmlns:a16="http://schemas.microsoft.com/office/drawing/2014/main" id="{DE583E3C-EE0D-E648-90CF-E0827356DCE9}"/>
              </a:ext>
            </a:extLst>
          </p:cNvPr>
          <p:cNvSpPr>
            <a:spLocks noGrp="1"/>
          </p:cNvSpPr>
          <p:nvPr>
            <p:ph sz="half" idx="1"/>
          </p:nvPr>
        </p:nvSpPr>
        <p:spPr>
          <a:xfrm>
            <a:off x="0" y="1613043"/>
            <a:ext cx="12192000" cy="4743308"/>
          </a:xfrm>
          <a:solidFill>
            <a:schemeClr val="accent2">
              <a:lumMod val="20000"/>
              <a:lumOff val="80000"/>
            </a:schemeClr>
          </a:solidFill>
        </p:spPr>
        <p:txBody>
          <a:bodyPr>
            <a:normAutofit/>
          </a:bodyPr>
          <a:lstStyle/>
          <a:p>
            <a:pPr lvl="1"/>
            <a:endParaRPr lang="en-US" sz="700" dirty="0"/>
          </a:p>
          <a:p>
            <a:pPr marL="0" indent="0">
              <a:buNone/>
            </a:pPr>
            <a:r>
              <a:rPr lang="en-US" dirty="0"/>
              <a:t>You are given two sequences of integers: A = {a</a:t>
            </a:r>
            <a:r>
              <a:rPr lang="en-US" baseline="-25000" dirty="0"/>
              <a:t>1</a:t>
            </a:r>
            <a:r>
              <a:rPr lang="en-US" dirty="0"/>
              <a:t>, a</a:t>
            </a:r>
            <a:r>
              <a:rPr lang="en-US" baseline="-25000" dirty="0"/>
              <a:t>2</a:t>
            </a:r>
            <a:r>
              <a:rPr lang="en-US" dirty="0"/>
              <a:t>, …. </a:t>
            </a:r>
            <a:r>
              <a:rPr lang="en-US" dirty="0" err="1"/>
              <a:t>a</a:t>
            </a:r>
            <a:r>
              <a:rPr lang="en-US" baseline="-25000" dirty="0" err="1"/>
              <a:t>i</a:t>
            </a:r>
            <a:r>
              <a:rPr lang="en-US" dirty="0"/>
              <a:t>} and B = {b</a:t>
            </a:r>
            <a:r>
              <a:rPr lang="en-US" baseline="-25000" dirty="0"/>
              <a:t>1</a:t>
            </a:r>
            <a:r>
              <a:rPr lang="en-US" dirty="0"/>
              <a:t>, b</a:t>
            </a:r>
            <a:r>
              <a:rPr lang="en-US" baseline="-25000" dirty="0"/>
              <a:t>2</a:t>
            </a:r>
            <a:r>
              <a:rPr lang="en-US" dirty="0"/>
              <a:t>, …. </a:t>
            </a:r>
            <a:r>
              <a:rPr lang="en-US" dirty="0" err="1"/>
              <a:t>b</a:t>
            </a:r>
            <a:r>
              <a:rPr lang="en-US" baseline="-25000" dirty="0" err="1"/>
              <a:t>j</a:t>
            </a:r>
            <a:r>
              <a:rPr lang="en-US" dirty="0"/>
              <a:t>}.</a:t>
            </a:r>
          </a:p>
          <a:p>
            <a:pPr marL="0" indent="0">
              <a:buNone/>
            </a:pPr>
            <a:r>
              <a:rPr lang="en-US" dirty="0"/>
              <a:t>Define an algorithm that returns the longest sequence of alternating increasing values from A and B where the sequence X = {x</a:t>
            </a:r>
            <a:r>
              <a:rPr lang="en-US" baseline="-25000" dirty="0"/>
              <a:t>1</a:t>
            </a:r>
            <a:r>
              <a:rPr lang="en-US" dirty="0"/>
              <a:t>, x</a:t>
            </a:r>
            <a:r>
              <a:rPr lang="en-US" baseline="-25000" dirty="0"/>
              <a:t>2</a:t>
            </a:r>
            <a:r>
              <a:rPr lang="en-US" dirty="0"/>
              <a:t>, …. </a:t>
            </a:r>
            <a:r>
              <a:rPr lang="en-US" dirty="0" err="1"/>
              <a:t>x</a:t>
            </a:r>
            <a:r>
              <a:rPr lang="en-US" baseline="-25000" dirty="0" err="1"/>
              <a:t>n</a:t>
            </a:r>
            <a:r>
              <a:rPr lang="en-US" dirty="0"/>
              <a:t>} is as follows:</a:t>
            </a:r>
          </a:p>
          <a:p>
            <a:pPr lvl="2"/>
            <a:r>
              <a:rPr lang="en-US" dirty="0"/>
              <a:t>The elements of X are increasing e.g. x</a:t>
            </a:r>
            <a:r>
              <a:rPr lang="en-US" baseline="-25000" dirty="0"/>
              <a:t>i </a:t>
            </a:r>
            <a:r>
              <a:rPr lang="en-US" dirty="0"/>
              <a:t>&lt; x</a:t>
            </a:r>
            <a:r>
              <a:rPr lang="en-US" baseline="-25000" dirty="0"/>
              <a:t>i+1 </a:t>
            </a:r>
            <a:r>
              <a:rPr lang="en-US" dirty="0"/>
              <a:t>for all 1 &lt;= I &lt; n</a:t>
            </a:r>
          </a:p>
          <a:p>
            <a:pPr lvl="2"/>
            <a:r>
              <a:rPr lang="en-US" dirty="0"/>
              <a:t>The odd-indexed elements of X are a subsequence of one of the sequences either A or B and the even-indexed elements of X are a subsequence of the other sequence.</a:t>
            </a:r>
          </a:p>
          <a:p>
            <a:pPr lvl="2"/>
            <a:r>
              <a:rPr lang="en-US" dirty="0"/>
              <a:t>Note a subsequence need not be consecutive elements of the original sequence but must maintain the relative order of the original sequence</a:t>
            </a:r>
          </a:p>
          <a:p>
            <a:pPr marL="0" indent="0">
              <a:buNone/>
            </a:pPr>
            <a:r>
              <a:rPr lang="en-US" dirty="0"/>
              <a:t>For example A = {1,7,2} and B = {4,8,3,9} then the answer is X = {4,7,9} which has a length of 3.</a:t>
            </a:r>
          </a:p>
          <a:p>
            <a:endParaRPr lang="en-US" dirty="0"/>
          </a:p>
        </p:txBody>
      </p:sp>
    </p:spTree>
    <p:extLst>
      <p:ext uri="{BB962C8B-B14F-4D97-AF65-F5344CB8AC3E}">
        <p14:creationId xmlns:p14="http://schemas.microsoft.com/office/powerpoint/2010/main" val="2425314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BDEA-2B9D-B840-809F-2653FC5DF999}"/>
              </a:ext>
            </a:extLst>
          </p:cNvPr>
          <p:cNvSpPr>
            <a:spLocks noGrp="1"/>
          </p:cNvSpPr>
          <p:nvPr>
            <p:ph type="title"/>
          </p:nvPr>
        </p:nvSpPr>
        <p:spPr>
          <a:xfrm>
            <a:off x="0" y="678094"/>
            <a:ext cx="12192000" cy="934949"/>
          </a:xfrm>
          <a:solidFill>
            <a:schemeClr val="accent2">
              <a:lumMod val="20000"/>
              <a:lumOff val="80000"/>
            </a:schemeClr>
          </a:solidFill>
        </p:spPr>
        <p:txBody>
          <a:bodyPr/>
          <a:lstStyle/>
          <a:p>
            <a:r>
              <a:rPr lang="en-US" b="1" dirty="0"/>
              <a:t>Problem 3 (50 points)</a:t>
            </a:r>
          </a:p>
        </p:txBody>
      </p:sp>
      <p:sp>
        <p:nvSpPr>
          <p:cNvPr id="5" name="Rectangle 4">
            <a:extLst>
              <a:ext uri="{FF2B5EF4-FFF2-40B4-BE49-F238E27FC236}">
                <a16:creationId xmlns:a16="http://schemas.microsoft.com/office/drawing/2014/main" id="{958934F1-EFDA-3042-B8D1-1627EF63AA28}"/>
              </a:ext>
            </a:extLst>
          </p:cNvPr>
          <p:cNvSpPr/>
          <p:nvPr/>
        </p:nvSpPr>
        <p:spPr>
          <a:xfrm>
            <a:off x="0" y="0"/>
            <a:ext cx="12192000" cy="6780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CS526  Homework Assignment 5</a:t>
            </a:r>
          </a:p>
        </p:txBody>
      </p:sp>
      <p:sp>
        <p:nvSpPr>
          <p:cNvPr id="6" name="Footer Placeholder 5">
            <a:extLst>
              <a:ext uri="{FF2B5EF4-FFF2-40B4-BE49-F238E27FC236}">
                <a16:creationId xmlns:a16="http://schemas.microsoft.com/office/drawing/2014/main" id="{5B12AFAF-307E-C046-A210-B750151EF6F1}"/>
              </a:ext>
            </a:extLst>
          </p:cNvPr>
          <p:cNvSpPr>
            <a:spLocks noGrp="1"/>
          </p:cNvSpPr>
          <p:nvPr>
            <p:ph type="ftr" sz="quarter" idx="11"/>
          </p:nvPr>
        </p:nvSpPr>
        <p:spPr/>
        <p:txBody>
          <a:bodyPr/>
          <a:lstStyle/>
          <a:p>
            <a:r>
              <a:rPr lang="en-US"/>
              <a:t>Boston University Metropolitan College</a:t>
            </a:r>
          </a:p>
        </p:txBody>
      </p:sp>
      <p:sp>
        <p:nvSpPr>
          <p:cNvPr id="7" name="Slide Number Placeholder 6">
            <a:extLst>
              <a:ext uri="{FF2B5EF4-FFF2-40B4-BE49-F238E27FC236}">
                <a16:creationId xmlns:a16="http://schemas.microsoft.com/office/drawing/2014/main" id="{37980371-C631-6347-9CDD-6C6B37EC7D7D}"/>
              </a:ext>
            </a:extLst>
          </p:cNvPr>
          <p:cNvSpPr>
            <a:spLocks noGrp="1"/>
          </p:cNvSpPr>
          <p:nvPr>
            <p:ph type="sldNum" sz="quarter" idx="12"/>
          </p:nvPr>
        </p:nvSpPr>
        <p:spPr/>
        <p:txBody>
          <a:bodyPr/>
          <a:lstStyle/>
          <a:p>
            <a:fld id="{F0E4876E-C529-7042-8A86-14EE2C2A0384}" type="slidenum">
              <a:rPr lang="en-US" smtClean="0"/>
              <a:t>5</a:t>
            </a:fld>
            <a:endParaRPr lang="en-US"/>
          </a:p>
        </p:txBody>
      </p:sp>
      <p:sp>
        <p:nvSpPr>
          <p:cNvPr id="20" name="Content Placeholder 2">
            <a:extLst>
              <a:ext uri="{FF2B5EF4-FFF2-40B4-BE49-F238E27FC236}">
                <a16:creationId xmlns:a16="http://schemas.microsoft.com/office/drawing/2014/main" id="{DE583E3C-EE0D-E648-90CF-E0827356DCE9}"/>
              </a:ext>
            </a:extLst>
          </p:cNvPr>
          <p:cNvSpPr>
            <a:spLocks noGrp="1"/>
          </p:cNvSpPr>
          <p:nvPr>
            <p:ph sz="half" idx="1"/>
          </p:nvPr>
        </p:nvSpPr>
        <p:spPr>
          <a:xfrm>
            <a:off x="0" y="1613043"/>
            <a:ext cx="12192000" cy="4743308"/>
          </a:xfrm>
          <a:solidFill>
            <a:schemeClr val="accent2">
              <a:lumMod val="20000"/>
              <a:lumOff val="80000"/>
            </a:schemeClr>
          </a:solidFill>
        </p:spPr>
        <p:txBody>
          <a:bodyPr>
            <a:normAutofit fontScale="70000" lnSpcReduction="20000"/>
          </a:bodyPr>
          <a:lstStyle/>
          <a:p>
            <a:pPr lvl="1"/>
            <a:endParaRPr lang="en-US" sz="700" dirty="0"/>
          </a:p>
          <a:p>
            <a:pPr marL="0" indent="0">
              <a:buNone/>
            </a:pPr>
            <a:r>
              <a:rPr lang="en-US" dirty="0"/>
              <a:t>Demonstrate you code by running your code with the provided input files. The input file will contain 4 input lines. The first line will be the size of the A array, the second will be the size of the B array the third line will be the A array values separated by a space and the fourth line will be the B array values separated by a space.</a:t>
            </a:r>
          </a:p>
          <a:p>
            <a:pPr marL="0" indent="0">
              <a:buNone/>
            </a:pPr>
            <a:r>
              <a:rPr lang="en-US" dirty="0"/>
              <a:t>Sample input file: </a:t>
            </a:r>
          </a:p>
          <a:p>
            <a:pPr marL="0" indent="0">
              <a:buNone/>
            </a:pPr>
            <a:r>
              <a:rPr lang="en-US" dirty="0"/>
              <a:t>5</a:t>
            </a:r>
          </a:p>
          <a:p>
            <a:pPr marL="0" indent="0">
              <a:buNone/>
            </a:pPr>
            <a:r>
              <a:rPr lang="en-US" dirty="0"/>
              <a:t>6</a:t>
            </a:r>
          </a:p>
          <a:p>
            <a:pPr marL="0" indent="0">
              <a:buNone/>
            </a:pPr>
            <a:r>
              <a:rPr lang="en-US" dirty="0"/>
              <a:t>8 2 9 1 4</a:t>
            </a:r>
          </a:p>
          <a:p>
            <a:pPr marL="0" indent="0">
              <a:buNone/>
            </a:pPr>
            <a:r>
              <a:rPr lang="en-US" dirty="0"/>
              <a:t>4 1 5 3 2 6</a:t>
            </a:r>
          </a:p>
          <a:p>
            <a:pPr marL="0" indent="0">
              <a:buNone/>
            </a:pPr>
            <a:endParaRPr lang="en-US" dirty="0"/>
          </a:p>
          <a:p>
            <a:pPr marL="0" indent="0">
              <a:buNone/>
            </a:pPr>
            <a:r>
              <a:rPr lang="en-US" dirty="0"/>
              <a:t>You should submit a </a:t>
            </a:r>
            <a:r>
              <a:rPr lang="en-US" dirty="0" err="1"/>
              <a:t>readme.txt</a:t>
            </a:r>
            <a:r>
              <a:rPr lang="en-US" dirty="0"/>
              <a:t> file with an explanation of your code and algorithms. You must provide exact instructions on how to run your code and you must submit screen shots of your running code. The output should be of the format:</a:t>
            </a:r>
          </a:p>
          <a:p>
            <a:pPr marL="0" indent="0">
              <a:buNone/>
            </a:pPr>
            <a:endParaRPr lang="en-US" dirty="0"/>
          </a:p>
          <a:p>
            <a:pPr marL="2743200" lvl="6" indent="0">
              <a:buNone/>
            </a:pPr>
            <a:r>
              <a:rPr lang="en-US" sz="2900" dirty="0"/>
              <a:t>File Input: </a:t>
            </a:r>
            <a:r>
              <a:rPr lang="en-US" sz="2900" dirty="0" err="1"/>
              <a:t>longest_seq</a:t>
            </a:r>
            <a:r>
              <a:rPr lang="en-US" sz="2900" dirty="0"/>
              <a:t>&lt;input file number&gt;.txt </a:t>
            </a:r>
          </a:p>
          <a:p>
            <a:pPr marL="2743200" lvl="6" indent="0">
              <a:buNone/>
            </a:pPr>
            <a:r>
              <a:rPr lang="en-US" sz="2900" dirty="0"/>
              <a:t>Longest Sequence: &lt;the longest sequence you computed&gt;</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1138485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BDEA-2B9D-B840-809F-2653FC5DF999}"/>
              </a:ext>
            </a:extLst>
          </p:cNvPr>
          <p:cNvSpPr>
            <a:spLocks noGrp="1"/>
          </p:cNvSpPr>
          <p:nvPr>
            <p:ph type="title"/>
          </p:nvPr>
        </p:nvSpPr>
        <p:spPr>
          <a:xfrm>
            <a:off x="0" y="678094"/>
            <a:ext cx="12192000" cy="934949"/>
          </a:xfrm>
          <a:solidFill>
            <a:schemeClr val="accent2">
              <a:lumMod val="20000"/>
              <a:lumOff val="80000"/>
            </a:schemeClr>
          </a:solidFill>
        </p:spPr>
        <p:txBody>
          <a:bodyPr/>
          <a:lstStyle/>
          <a:p>
            <a:r>
              <a:rPr lang="en-US" b="1" dirty="0"/>
              <a:t>Problem 3 (50 points)</a:t>
            </a:r>
          </a:p>
        </p:txBody>
      </p:sp>
      <p:sp>
        <p:nvSpPr>
          <p:cNvPr id="5" name="Rectangle 4">
            <a:extLst>
              <a:ext uri="{FF2B5EF4-FFF2-40B4-BE49-F238E27FC236}">
                <a16:creationId xmlns:a16="http://schemas.microsoft.com/office/drawing/2014/main" id="{958934F1-EFDA-3042-B8D1-1627EF63AA28}"/>
              </a:ext>
            </a:extLst>
          </p:cNvPr>
          <p:cNvSpPr/>
          <p:nvPr/>
        </p:nvSpPr>
        <p:spPr>
          <a:xfrm>
            <a:off x="0" y="0"/>
            <a:ext cx="12192000" cy="6780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CS526  Homework Assignment 5</a:t>
            </a:r>
          </a:p>
        </p:txBody>
      </p:sp>
      <p:sp>
        <p:nvSpPr>
          <p:cNvPr id="6" name="Footer Placeholder 5">
            <a:extLst>
              <a:ext uri="{FF2B5EF4-FFF2-40B4-BE49-F238E27FC236}">
                <a16:creationId xmlns:a16="http://schemas.microsoft.com/office/drawing/2014/main" id="{5B12AFAF-307E-C046-A210-B750151EF6F1}"/>
              </a:ext>
            </a:extLst>
          </p:cNvPr>
          <p:cNvSpPr>
            <a:spLocks noGrp="1"/>
          </p:cNvSpPr>
          <p:nvPr>
            <p:ph type="ftr" sz="quarter" idx="11"/>
          </p:nvPr>
        </p:nvSpPr>
        <p:spPr/>
        <p:txBody>
          <a:bodyPr/>
          <a:lstStyle/>
          <a:p>
            <a:r>
              <a:rPr lang="en-US"/>
              <a:t>Boston University Metropolitan College</a:t>
            </a:r>
          </a:p>
        </p:txBody>
      </p:sp>
      <p:sp>
        <p:nvSpPr>
          <p:cNvPr id="7" name="Slide Number Placeholder 6">
            <a:extLst>
              <a:ext uri="{FF2B5EF4-FFF2-40B4-BE49-F238E27FC236}">
                <a16:creationId xmlns:a16="http://schemas.microsoft.com/office/drawing/2014/main" id="{37980371-C631-6347-9CDD-6C6B37EC7D7D}"/>
              </a:ext>
            </a:extLst>
          </p:cNvPr>
          <p:cNvSpPr>
            <a:spLocks noGrp="1"/>
          </p:cNvSpPr>
          <p:nvPr>
            <p:ph type="sldNum" sz="quarter" idx="12"/>
          </p:nvPr>
        </p:nvSpPr>
        <p:spPr/>
        <p:txBody>
          <a:bodyPr/>
          <a:lstStyle/>
          <a:p>
            <a:fld id="{F0E4876E-C529-7042-8A86-14EE2C2A0384}" type="slidenum">
              <a:rPr lang="en-US" smtClean="0"/>
              <a:t>6</a:t>
            </a:fld>
            <a:endParaRPr lang="en-US"/>
          </a:p>
        </p:txBody>
      </p:sp>
      <p:sp>
        <p:nvSpPr>
          <p:cNvPr id="20" name="Content Placeholder 2">
            <a:extLst>
              <a:ext uri="{FF2B5EF4-FFF2-40B4-BE49-F238E27FC236}">
                <a16:creationId xmlns:a16="http://schemas.microsoft.com/office/drawing/2014/main" id="{DE583E3C-EE0D-E648-90CF-E0827356DCE9}"/>
              </a:ext>
            </a:extLst>
          </p:cNvPr>
          <p:cNvSpPr>
            <a:spLocks noGrp="1"/>
          </p:cNvSpPr>
          <p:nvPr>
            <p:ph sz="half" idx="1"/>
          </p:nvPr>
        </p:nvSpPr>
        <p:spPr>
          <a:xfrm>
            <a:off x="0" y="1613043"/>
            <a:ext cx="12192000" cy="4743308"/>
          </a:xfrm>
          <a:solidFill>
            <a:schemeClr val="accent2">
              <a:lumMod val="20000"/>
              <a:lumOff val="80000"/>
            </a:schemeClr>
          </a:solidFill>
        </p:spPr>
        <p:txBody>
          <a:bodyPr>
            <a:normAutofit fontScale="47500" lnSpcReduction="20000"/>
          </a:bodyPr>
          <a:lstStyle/>
          <a:p>
            <a:pPr lvl="1"/>
            <a:endParaRPr lang="en-US" sz="700" dirty="0"/>
          </a:p>
          <a:p>
            <a:pPr marL="0" indent="0">
              <a:buNone/>
            </a:pPr>
            <a:r>
              <a:rPr lang="en-US" dirty="0"/>
              <a:t>File Input: longest_seq1.txt </a:t>
            </a:r>
          </a:p>
          <a:p>
            <a:pPr marL="0" indent="0">
              <a:buNone/>
            </a:pPr>
            <a:r>
              <a:rPr lang="en-US" dirty="0"/>
              <a:t>Longest Sequence: 4</a:t>
            </a:r>
          </a:p>
          <a:p>
            <a:pPr marL="0" indent="0">
              <a:buNone/>
            </a:pPr>
            <a:endParaRPr lang="en-US" dirty="0"/>
          </a:p>
          <a:p>
            <a:pPr marL="0" indent="0">
              <a:buNone/>
            </a:pPr>
            <a:r>
              <a:rPr lang="en-US" dirty="0"/>
              <a:t>File Input: longest_seq2.txt </a:t>
            </a:r>
          </a:p>
          <a:p>
            <a:pPr marL="0" indent="0">
              <a:buNone/>
            </a:pPr>
            <a:r>
              <a:rPr lang="en-US" dirty="0"/>
              <a:t>Longest Sequence: 7</a:t>
            </a:r>
          </a:p>
          <a:p>
            <a:pPr marL="0" indent="0">
              <a:buNone/>
            </a:pPr>
            <a:endParaRPr lang="en-US" dirty="0"/>
          </a:p>
          <a:p>
            <a:pPr marL="0" indent="0">
              <a:buNone/>
            </a:pPr>
            <a:r>
              <a:rPr lang="en-US" dirty="0"/>
              <a:t>File Input: longest_seq3.txt </a:t>
            </a:r>
          </a:p>
          <a:p>
            <a:pPr marL="0" indent="0">
              <a:buNone/>
            </a:pPr>
            <a:r>
              <a:rPr lang="en-US" dirty="0"/>
              <a:t>Longest Sequence: 10</a:t>
            </a:r>
          </a:p>
          <a:p>
            <a:pPr marL="0" indent="0">
              <a:buNone/>
            </a:pPr>
            <a:endParaRPr lang="en-US" dirty="0"/>
          </a:p>
          <a:p>
            <a:pPr marL="0" indent="0">
              <a:buNone/>
            </a:pPr>
            <a:r>
              <a:rPr lang="en-US" dirty="0"/>
              <a:t>File Input: longest_seq4.txt </a:t>
            </a:r>
          </a:p>
          <a:p>
            <a:pPr marL="0" indent="0">
              <a:buNone/>
            </a:pPr>
            <a:r>
              <a:rPr lang="en-US" dirty="0"/>
              <a:t>Longest Sequence: 39</a:t>
            </a:r>
          </a:p>
          <a:p>
            <a:pPr marL="0" indent="0">
              <a:buNone/>
            </a:pPr>
            <a:endParaRPr lang="en-US" dirty="0"/>
          </a:p>
          <a:p>
            <a:pPr marL="0" indent="0">
              <a:buNone/>
            </a:pPr>
            <a:r>
              <a:rPr lang="en-US" dirty="0"/>
              <a:t>File Input: longest_seq5.txt </a:t>
            </a:r>
          </a:p>
          <a:p>
            <a:pPr marL="0" indent="0">
              <a:buNone/>
            </a:pPr>
            <a:r>
              <a:rPr lang="en-US" dirty="0"/>
              <a:t>Longest Sequence: 192</a:t>
            </a:r>
          </a:p>
          <a:p>
            <a:pPr marL="0" indent="0">
              <a:buNone/>
            </a:pPr>
            <a:endParaRPr lang="en-US" dirty="0"/>
          </a:p>
          <a:p>
            <a:pPr marL="0" indent="0">
              <a:buNone/>
            </a:pPr>
            <a:r>
              <a:rPr lang="en-US" dirty="0"/>
              <a:t>File Input: longest_seq6.txt </a:t>
            </a:r>
          </a:p>
          <a:p>
            <a:pPr marL="0" indent="0">
              <a:buNone/>
            </a:pPr>
            <a:r>
              <a:rPr lang="en-US" dirty="0"/>
              <a:t>Longest Sequence: 1</a:t>
            </a:r>
          </a:p>
          <a:p>
            <a:pPr marL="0" indent="0">
              <a:buNone/>
            </a:pPr>
            <a:endParaRPr lang="en-US" dirty="0"/>
          </a:p>
        </p:txBody>
      </p:sp>
    </p:spTree>
    <p:extLst>
      <p:ext uri="{BB962C8B-B14F-4D97-AF65-F5344CB8AC3E}">
        <p14:creationId xmlns:p14="http://schemas.microsoft.com/office/powerpoint/2010/main" val="16671774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843</TotalTime>
  <Words>904</Words>
  <Application>Microsoft Macintosh PowerPoint</Application>
  <PresentationFormat>Widescreen</PresentationFormat>
  <Paragraphs>104</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Problem 1 (20 points)</vt:lpstr>
      <vt:lpstr>Problem 2 (30 points) Implement from Class Discussion</vt:lpstr>
      <vt:lpstr>Problem 2 (30 points) con’t</vt:lpstr>
      <vt:lpstr>Problem 3 (50 points)</vt:lpstr>
      <vt:lpstr>Problem 3 (50 points)</vt:lpstr>
      <vt:lpstr>Problem 3 (50 points)</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Introduce Yourself</dc:title>
  <dc:creator>David Mellor</dc:creator>
  <cp:lastModifiedBy>David Mellor</cp:lastModifiedBy>
  <cp:revision>45</cp:revision>
  <dcterms:created xsi:type="dcterms:W3CDTF">2024-08-26T20:23:57Z</dcterms:created>
  <dcterms:modified xsi:type="dcterms:W3CDTF">2025-11-01T17:25:28Z</dcterms:modified>
</cp:coreProperties>
</file>